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3" r:id="rId1"/>
  </p:sldMasterIdLst>
  <p:notesMasterIdLst>
    <p:notesMasterId r:id="rId9"/>
  </p:notesMasterIdLst>
  <p:handoutMasterIdLst>
    <p:handoutMasterId r:id="rId10"/>
  </p:handoutMasterIdLst>
  <p:sldIdLst>
    <p:sldId id="281" r:id="rId2"/>
    <p:sldId id="293" r:id="rId3"/>
    <p:sldId id="508" r:id="rId4"/>
    <p:sldId id="536" r:id="rId5"/>
    <p:sldId id="386" r:id="rId6"/>
    <p:sldId id="383" r:id="rId7"/>
    <p:sldId id="480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1" userDrawn="1">
          <p15:clr>
            <a:srgbClr val="A4A3A4"/>
          </p15:clr>
        </p15:guide>
        <p15:guide id="2" orient="horz" pos="4203" userDrawn="1">
          <p15:clr>
            <a:srgbClr val="A4A3A4"/>
          </p15:clr>
        </p15:guide>
        <p15:guide id="3" orient="horz" pos="3854" userDrawn="1">
          <p15:clr>
            <a:srgbClr val="A4A3A4"/>
          </p15:clr>
        </p15:guide>
        <p15:guide id="4" pos="3772" userDrawn="1">
          <p15:clr>
            <a:srgbClr val="A4A3A4"/>
          </p15:clr>
        </p15:guide>
        <p15:guide id="5" pos="2162" userDrawn="1">
          <p15:clr>
            <a:srgbClr val="A4A3A4"/>
          </p15:clr>
        </p15:guide>
        <p15:guide id="6" pos="5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9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, Mary" initials="MM" lastIdx="2" clrIdx="0"/>
  <p:cmAuthor id="2" name="Huiyi.Xu" initials="H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2F0"/>
    <a:srgbClr val="D9D9D9"/>
    <a:srgbClr val="206AB4"/>
    <a:srgbClr val="C3E5B7"/>
    <a:srgbClr val="ECCAB2"/>
    <a:srgbClr val="9A8F82"/>
    <a:srgbClr val="535554"/>
    <a:srgbClr val="92D050"/>
    <a:srgbClr val="FFFFFF"/>
    <a:srgbClr val="BEDF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54" autoAdjust="0"/>
    <p:restoredTop sz="94095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48" y="140"/>
      </p:cViewPr>
      <p:guideLst>
        <p:guide orient="horz" pos="531"/>
        <p:guide orient="horz" pos="4203"/>
        <p:guide orient="horz" pos="3854"/>
        <p:guide pos="3772"/>
        <p:guide pos="2162"/>
        <p:guide pos="54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68" d="100"/>
          <a:sy n="68" d="100"/>
        </p:scale>
        <p:origin x="2304" y="68"/>
      </p:cViewPr>
      <p:guideLst>
        <p:guide orient="horz" pos="2889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t>6/3/2025</a:t>
            </a:fld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3CF275-28B3-497F-9AED-85D5F023BA5C}" type="datetimeFigureOut">
              <a:rPr lang="en-US" smtClean="0"/>
              <a:t>6/3/2025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AED87EB-65D7-4500-873C-410831173A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1C001-4220-465C-A9B9-393595B8374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63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66C1-1398-3822-A616-215B05837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197EB4-2CBE-4C9E-F640-2EBAFF00F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373117-53A6-FE9A-DD1B-7167B1382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52E09E-81FC-E59B-FA60-504F4BB71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570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D5CF0-FA2C-50A1-F033-0F1B6E51D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4FF4B0-453A-FE01-D4E4-FD27D2215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E4D359-012A-9840-835B-C8DCC6347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42A21-B4DD-19ED-A065-F92C26F4C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1C001-4220-465C-A9B9-393595B8374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862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843302-693C-4729-8DC2-4190848700BC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873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BD03-BBD7-9FE6-8860-EEF7F4AE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F78303-1D54-6001-550C-90275F326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C42D14-595D-FAAC-677A-F7EDEB03A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FA491-E453-5109-FB03-2443A63A6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43302-693C-4729-8DC2-4190848700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209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"/>
            <a:ext cx="12193588" cy="6857107"/>
          </a:xfrm>
          <a:prstGeom prst="rect">
            <a:avLst/>
          </a:prstGeom>
        </p:spPr>
      </p:pic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0856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 userDrawn="1"/>
        </p:nvSpPr>
        <p:spPr>
          <a:xfrm>
            <a:off x="3461032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/>
            <a:endParaRPr lang="en-US" sz="2400" dirty="0"/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4454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 userDrawn="1"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/>
            <a:endParaRPr lang="en-US" sz="2400" dirty="0"/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6764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 userDrawn="1"/>
        </p:nvSpPr>
        <p:spPr>
          <a:xfrm>
            <a:off x="6308946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/>
            <a:endParaRPr lang="en-US" sz="2400" dirty="0"/>
          </a:p>
        </p:txBody>
      </p:sp>
      <p:sp>
        <p:nvSpPr>
          <p:cNvPr id="67" name="Oval 66"/>
          <p:cNvSpPr/>
          <p:nvPr userDrawn="1"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/>
            <a:endParaRPr lang="en-US" sz="2400" dirty="0"/>
          </a:p>
        </p:txBody>
      </p:sp>
      <p:pic>
        <p:nvPicPr>
          <p:cNvPr id="68" name="Picture 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45380" y="5515988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 userDrawn="1"/>
        </p:nvGrpSpPr>
        <p:grpSpPr>
          <a:xfrm>
            <a:off x="5237496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/>
              <a:endParaRPr lang="en-US" sz="2400" dirty="0"/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 userDrawn="1"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/>
              <a:endParaRPr lang="en-US" sz="2400" dirty="0"/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 userDrawn="1"/>
        </p:nvGrpSpPr>
        <p:grpSpPr>
          <a:xfrm>
            <a:off x="4497077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/>
              <a:endParaRPr lang="en-US" sz="2400" dirty="0"/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92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text, two lines maximum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4059936"/>
            <a:ext cx="8716501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9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1"/>
          </p:nvPr>
        </p:nvSpPr>
        <p:spPr>
          <a:xfrm>
            <a:off x="548783" y="4800600"/>
            <a:ext cx="6411613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 userDrawn="1"/>
        </p:nvSpPr>
        <p:spPr bwMode="black">
          <a:xfrm>
            <a:off x="548784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48785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6921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810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67037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 userDrawn="1"/>
        </p:nvGrpSpPr>
        <p:grpSpPr>
          <a:xfrm>
            <a:off x="2025126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/>
              <a:endParaRPr lang="en-US" sz="2400" dirty="0"/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 userDrawn="1"/>
        </p:nvGrpSpPr>
        <p:grpSpPr>
          <a:xfrm>
            <a:off x="4881006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/>
              <a:endParaRPr lang="en-US" sz="2400" dirty="0"/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 userDrawn="1"/>
        </p:nvGrpSpPr>
        <p:grpSpPr>
          <a:xfrm>
            <a:off x="5951466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/>
              <a:endParaRPr lang="en-US" sz="2400" dirty="0"/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 userDrawn="1"/>
        </p:nvGrpSpPr>
        <p:grpSpPr>
          <a:xfrm>
            <a:off x="3095586" y="5468110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/>
              <a:endParaRPr lang="en-US" sz="2400" dirty="0"/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 userDrawn="1"/>
        </p:nvSpPr>
        <p:spPr>
          <a:xfrm>
            <a:off x="953676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/>
            <a:endParaRPr lang="en-US" sz="2400" dirty="0"/>
          </a:p>
        </p:txBody>
      </p:sp>
      <p:pic>
        <p:nvPicPr>
          <p:cNvPr id="72" name="Picture 5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07040" y="5515988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398483" y="5540157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517644" y="5508040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347411" y="5552719"/>
            <a:ext cx="234047" cy="165847"/>
          </a:xfrm>
          <a:prstGeom prst="rect">
            <a:avLst/>
          </a:prstGeom>
          <a:noFill/>
        </p:spPr>
      </p:pic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0723895" y="3379321"/>
            <a:ext cx="2228052" cy="70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95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84987" y="192601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4F19731E-ED23-9864-C07D-D7921D98E6A4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页脚占位符 1">
            <a:extLst>
              <a:ext uri="{FF2B5EF4-FFF2-40B4-BE49-F238E27FC236}">
                <a16:creationId xmlns:a16="http://schemas.microsoft.com/office/drawing/2014/main" id="{C6F87176-6FBD-9C3D-2837-F8E7810D27C7}"/>
              </a:ext>
            </a:extLst>
          </p:cNvPr>
          <p:cNvSpPr txBox="1">
            <a:spLocks/>
          </p:cNvSpPr>
          <p:nvPr userDrawn="1"/>
        </p:nvSpPr>
        <p:spPr>
          <a:xfrm>
            <a:off x="423161" y="6473350"/>
            <a:ext cx="2413972" cy="268587"/>
          </a:xfrm>
          <a:prstGeom prst="rect">
            <a:avLst/>
          </a:prstGeom>
        </p:spPr>
        <p:txBody>
          <a:bodyPr l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939598"/>
                </a:solidFill>
                <a:cs typeface="+mn-ea"/>
                <a:sym typeface="+mn-lt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939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99689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0C36307D-C0A6-1674-0AF3-35A839E0C9B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页脚占位符 1">
            <a:extLst>
              <a:ext uri="{FF2B5EF4-FFF2-40B4-BE49-F238E27FC236}">
                <a16:creationId xmlns:a16="http://schemas.microsoft.com/office/drawing/2014/main" id="{2064BC11-0AD9-ACF4-80CB-59553EE78569}"/>
              </a:ext>
            </a:extLst>
          </p:cNvPr>
          <p:cNvSpPr txBox="1">
            <a:spLocks/>
          </p:cNvSpPr>
          <p:nvPr userDrawn="1"/>
        </p:nvSpPr>
        <p:spPr>
          <a:xfrm>
            <a:off x="423161" y="6473350"/>
            <a:ext cx="2413972" cy="268587"/>
          </a:xfrm>
          <a:prstGeom prst="rect">
            <a:avLst/>
          </a:prstGeom>
        </p:spPr>
        <p:txBody>
          <a:bodyPr l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939598"/>
                </a:solidFill>
                <a:cs typeface="+mn-ea"/>
                <a:sym typeface="+mn-lt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8966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5">
            <a:extLst>
              <a:ext uri="{FF2B5EF4-FFF2-40B4-BE49-F238E27FC236}">
                <a16:creationId xmlns:a16="http://schemas.microsoft.com/office/drawing/2014/main" id="{0C36307D-C0A6-1674-0AF3-35A839E0C9B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Title 28">
            <a:extLst>
              <a:ext uri="{FF2B5EF4-FFF2-40B4-BE49-F238E27FC236}">
                <a16:creationId xmlns:a16="http://schemas.microsoft.com/office/drawing/2014/main" id="{2A175C71-09AC-C3AE-937E-7A46D854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86501" y="207373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TextBox slide number">
            <a:extLst>
              <a:ext uri="{FF2B5EF4-FFF2-40B4-BE49-F238E27FC236}">
                <a16:creationId xmlns:a16="http://schemas.microsoft.com/office/drawing/2014/main" id="{67707335-CA3E-3C93-E91B-671C56E579A2}"/>
              </a:ext>
            </a:extLst>
          </p:cNvPr>
          <p:cNvSpPr txBox="1"/>
          <p:nvPr userDrawn="1"/>
        </p:nvSpPr>
        <p:spPr bwMode="white">
          <a:xfrm>
            <a:off x="11808467" y="6370683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t>‹#›</a:t>
            </a:fld>
            <a:endParaRPr lang="en-US" sz="1000" b="0" dirty="0">
              <a:solidFill>
                <a:schemeClr val="tx1"/>
              </a:solidFill>
            </a:endParaRPr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DB43BE-1AF3-E4BD-28DF-CFF100B53E57}"/>
              </a:ext>
            </a:extLst>
          </p:cNvPr>
          <p:cNvSpPr txBox="1">
            <a:spLocks/>
          </p:cNvSpPr>
          <p:nvPr userDrawn="1"/>
        </p:nvSpPr>
        <p:spPr>
          <a:xfrm>
            <a:off x="423161" y="6473350"/>
            <a:ext cx="2413972" cy="268587"/>
          </a:xfrm>
          <a:prstGeom prst="rect">
            <a:avLst/>
          </a:prstGeom>
        </p:spPr>
        <p:txBody>
          <a:bodyPr l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939598"/>
                </a:solidFill>
                <a:cs typeface="+mn-ea"/>
                <a:sym typeface="+mn-lt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914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99503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4646914-B501-0E27-C26B-4AA5E91CEE78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1">
            <a:extLst>
              <a:ext uri="{FF2B5EF4-FFF2-40B4-BE49-F238E27FC236}">
                <a16:creationId xmlns:a16="http://schemas.microsoft.com/office/drawing/2014/main" id="{710A8E16-D10F-3C54-8F89-607B77BC7C52}"/>
              </a:ext>
            </a:extLst>
          </p:cNvPr>
          <p:cNvSpPr txBox="1">
            <a:spLocks/>
          </p:cNvSpPr>
          <p:nvPr userDrawn="1"/>
        </p:nvSpPr>
        <p:spPr>
          <a:xfrm>
            <a:off x="423161" y="6473350"/>
            <a:ext cx="2413972" cy="268587"/>
          </a:xfrm>
          <a:prstGeom prst="rect">
            <a:avLst/>
          </a:prstGeom>
        </p:spPr>
        <p:txBody>
          <a:bodyPr l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939598"/>
                </a:solidFill>
                <a:cs typeface="+mn-ea"/>
                <a:sym typeface="+mn-lt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3948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12700" imgH="12700" progId="TCLayout.ActiveDocument.1">
                  <p:embed/>
                </p:oleObj>
              </mc:Choice>
              <mc:Fallback>
                <p:oleObj name="think-cell 幻灯片" r:id="rId8" imgW="12700" imgH="1270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478029" y="5710769"/>
            <a:ext cx="1085960" cy="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3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880" r:id="rId4"/>
    <p:sldLayoutId id="2147483892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49.png"/><Relationship Id="rId7" Type="http://schemas.openxmlformats.org/officeDocument/2006/relationships/image" Target="../media/image5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slide" Target="slide7.xml"/><Relationship Id="rId4" Type="http://schemas.openxmlformats.org/officeDocument/2006/relationships/image" Target="../media/image50.png"/><Relationship Id="rId9" Type="http://schemas.openxmlformats.org/officeDocument/2006/relationships/image" Target="../media/image5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832F461-B41B-4D5A-3B9F-03A558C29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72" y="720897"/>
            <a:ext cx="3612233" cy="545852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78B4B40-0760-1898-A9B0-5C1948E0C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72" y="695044"/>
            <a:ext cx="3612233" cy="550553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12A75CB-0CD6-1A25-105A-F49A6C59C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677" y="699740"/>
            <a:ext cx="3575020" cy="55055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A735486-2266-B7BD-5B99-5C480BBC0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167" y="697393"/>
            <a:ext cx="3579204" cy="55055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3F568D0-D8D3-6762-2497-1720F4D7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199689"/>
            <a:ext cx="11076268" cy="521208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PC MQE Handbook</a:t>
            </a:r>
            <a:r>
              <a:rPr lang="zh-CN" altLang="en-US" dirty="0">
                <a:latin typeface="+mn-lt"/>
                <a:cs typeface="+mn-ea"/>
                <a:sym typeface="+mn-lt"/>
              </a:rPr>
              <a:t>框架说明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8D370D-18F0-63C7-1187-82CCA11C9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0770" y="703965"/>
            <a:ext cx="3547778" cy="55055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0503821-9E6C-2D67-BAA0-311EA8194B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539"/>
          <a:stretch/>
        </p:blipFill>
        <p:spPr>
          <a:xfrm>
            <a:off x="8890198" y="703965"/>
            <a:ext cx="2965489" cy="39318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277D8-9818-BD0B-8EB5-B2DB03807635}"/>
              </a:ext>
            </a:extLst>
          </p:cNvPr>
          <p:cNvSpPr/>
          <p:nvPr/>
        </p:nvSpPr>
        <p:spPr>
          <a:xfrm>
            <a:off x="8625526" y="4659316"/>
            <a:ext cx="3238628" cy="15447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000" b="1" dirty="0">
                <a:solidFill>
                  <a:schemeClr val="tx1"/>
                </a:solidFill>
                <a:cs typeface="+mn-ea"/>
                <a:sym typeface="+mn-lt"/>
              </a:rPr>
              <a:t>PC MQE Handbook</a:t>
            </a:r>
            <a:r>
              <a:rPr lang="zh-CN" altLang="en-US" sz="1000" b="1" dirty="0">
                <a:solidFill>
                  <a:schemeClr val="tx1"/>
                </a:solidFill>
                <a:cs typeface="+mn-ea"/>
                <a:sym typeface="+mn-lt"/>
              </a:rPr>
              <a:t>主要框架</a:t>
            </a:r>
            <a:r>
              <a:rPr lang="en-US" altLang="zh-CN" sz="1000" b="1" dirty="0">
                <a:solidFill>
                  <a:schemeClr val="tx1"/>
                </a:solidFill>
                <a:cs typeface="+mn-ea"/>
                <a:sym typeface="+mn-lt"/>
              </a:rPr>
              <a:t>: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总体以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8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大部分组成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, 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包含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MQMS2.0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管控规范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部门介绍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/BMS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管理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部门管理规范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标准管理</a:t>
            </a:r>
            <a:endParaRPr lang="en-US" altLang="zh-CN" sz="900" dirty="0">
              <a:solidFill>
                <a:schemeClr val="tx1"/>
              </a:solidFill>
              <a:cs typeface="+mn-ea"/>
              <a:sym typeface="+mn-lt"/>
            </a:endParaRP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文件包含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25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章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/54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节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/145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个关键活动</a:t>
            </a:r>
            <a:endParaRPr lang="en-US" altLang="zh-CN" sz="10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整体框架搭建完成进度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80%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下一步将持续完善</a:t>
            </a:r>
            <a:r>
              <a:rPr lang="en-US" altLang="zh-CN" sz="900" dirty="0">
                <a:solidFill>
                  <a:schemeClr val="tx1"/>
                </a:solidFill>
                <a:cs typeface="+mn-ea"/>
                <a:sym typeface="+mn-lt"/>
              </a:rPr>
              <a:t>Handbook, </a:t>
            </a:r>
            <a:r>
              <a:rPr lang="zh-CN" altLang="en-US" sz="900" dirty="0">
                <a:solidFill>
                  <a:schemeClr val="tx1"/>
                </a:solidFill>
                <a:cs typeface="+mn-ea"/>
                <a:sym typeface="+mn-lt"/>
              </a:rPr>
              <a:t>细化文件内容</a:t>
            </a:r>
            <a:endParaRPr lang="en-US" altLang="zh-CN" sz="900" dirty="0">
              <a:solidFill>
                <a:schemeClr val="tx1"/>
              </a:solidFill>
              <a:cs typeface="+mn-ea"/>
              <a:sym typeface="+mn-lt"/>
            </a:endParaRPr>
          </a:p>
          <a:p>
            <a:endParaRPr lang="zh-CN" altLang="en-US" sz="10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55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6F3B-88BF-510D-0DC4-9E9D4245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矩形 140">
            <a:extLst>
              <a:ext uri="{FF2B5EF4-FFF2-40B4-BE49-F238E27FC236}">
                <a16:creationId xmlns:a16="http://schemas.microsoft.com/office/drawing/2014/main" id="{37EEE504-9889-3893-406F-07DA5BE638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cxnSp>
        <p:nvCxnSpPr>
          <p:cNvPr id="256" name="连接符: 肘形 255">
            <a:extLst>
              <a:ext uri="{FF2B5EF4-FFF2-40B4-BE49-F238E27FC236}">
                <a16:creationId xmlns:a16="http://schemas.microsoft.com/office/drawing/2014/main" id="{1DC93AAB-6C41-E76A-4F0B-9761F3E6051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86957" y="427125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连接符: 肘形 256">
            <a:extLst>
              <a:ext uri="{FF2B5EF4-FFF2-40B4-BE49-F238E27FC236}">
                <a16:creationId xmlns:a16="http://schemas.microsoft.com/office/drawing/2014/main" id="{7E316E34-986B-CC40-3006-77307114AB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86957" y="439258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46">
            <a:extLst>
              <a:ext uri="{FF2B5EF4-FFF2-40B4-BE49-F238E27FC236}">
                <a16:creationId xmlns:a16="http://schemas.microsoft.com/office/drawing/2014/main" id="{23B746C1-5653-C053-6C09-B05E3523A7A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99281" y="238042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E2964D73-3B2A-ACBD-3527-8083CD7D0A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3281" y="2537500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186A812B-5326-2C4C-20F8-7A7D39247F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99281" y="252524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连接符: 肘形 142">
            <a:extLst>
              <a:ext uri="{FF2B5EF4-FFF2-40B4-BE49-F238E27FC236}">
                <a16:creationId xmlns:a16="http://schemas.microsoft.com/office/drawing/2014/main" id="{EE2CFC34-1DA9-A550-B262-5356DC9807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96835" y="159664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1163BCF4-85C4-B0CE-A063-55D1F81D15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0835" y="172832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69387421-96EC-8702-0DF3-552F1B4F52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96835" y="172136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6F05CB49-04B1-B5F9-CE2C-ECF277B07C2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91593" y="2363849"/>
            <a:ext cx="180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7735AD00-B585-FA4C-2028-028443A993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91593" y="2526664"/>
            <a:ext cx="180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4035A9D6-89E2-8EF2-0544-825C88DD9E4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3353" y="427277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连接符: 肘形 128">
            <a:extLst>
              <a:ext uri="{FF2B5EF4-FFF2-40B4-BE49-F238E27FC236}">
                <a16:creationId xmlns:a16="http://schemas.microsoft.com/office/drawing/2014/main" id="{33A92A80-495D-3419-456C-797D9ADC07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53" y="4417150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100969E3-E5D9-AD3A-2209-1DE9E03401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3353" y="441442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连接符: 肘形 121">
            <a:extLst>
              <a:ext uri="{FF2B5EF4-FFF2-40B4-BE49-F238E27FC236}">
                <a16:creationId xmlns:a16="http://schemas.microsoft.com/office/drawing/2014/main" id="{3304718C-3C63-0254-28F5-42A65A1911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09593" y="166863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连接符: 肘形 122">
            <a:extLst>
              <a:ext uri="{FF2B5EF4-FFF2-40B4-BE49-F238E27FC236}">
                <a16:creationId xmlns:a16="http://schemas.microsoft.com/office/drawing/2014/main" id="{AE0E6311-A67C-2B6D-02CB-0AE4501F07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83593" y="1813015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1220A1AD-E7D1-C91D-9A14-3BD4EB7D6C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09593" y="181028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92DE302D-8455-6F4B-B71A-C1D93D46E2F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2477" y="253902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085776A3-E8E5-A11C-0D76-A2DB4F6A625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6477" y="2683402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连接符: 肘形 120">
            <a:extLst>
              <a:ext uri="{FF2B5EF4-FFF2-40B4-BE49-F238E27FC236}">
                <a16:creationId xmlns:a16="http://schemas.microsoft.com/office/drawing/2014/main" id="{FC1D68D9-BDFC-A163-7097-B3ACFAD995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2477" y="268067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D0DA21B8-FA91-E43F-27BC-87CA731A1B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1886" y="1638930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连接符: 肘形 114">
            <a:extLst>
              <a:ext uri="{FF2B5EF4-FFF2-40B4-BE49-F238E27FC236}">
                <a16:creationId xmlns:a16="http://schemas.microsoft.com/office/drawing/2014/main" id="{2BBC76BF-BFC6-00EC-AA48-09802FE701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5886" y="1783309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0030DF4B-3852-C85F-0A3D-73F0DDA9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109" y="150598"/>
            <a:ext cx="4320000" cy="342000"/>
          </a:xfrm>
          <a:solidFill>
            <a:srgbClr val="206AB4"/>
          </a:solidFill>
        </p:spPr>
        <p:txBody>
          <a:bodyPr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MQMS 2.0 </a:t>
            </a:r>
            <a:endParaRPr lang="zh-CN" altLang="en-US" sz="1600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06063E-1192-B62A-2718-6DB9B47D603B}"/>
              </a:ext>
            </a:extLst>
          </p:cNvPr>
          <p:cNvSpPr/>
          <p:nvPr/>
        </p:nvSpPr>
        <p:spPr>
          <a:xfrm>
            <a:off x="1908673" y="1181242"/>
            <a:ext cx="1224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产品试制质量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控制管理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FF0D68-BCBB-FD59-0F25-26BB2F067533}"/>
              </a:ext>
            </a:extLst>
          </p:cNvPr>
          <p:cNvSpPr/>
          <p:nvPr/>
        </p:nvSpPr>
        <p:spPr>
          <a:xfrm>
            <a:off x="283015" y="3078236"/>
            <a:ext cx="1296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产品质量标准管理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62CBE2-2370-A7ED-2A49-4611FE335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109838"/>
              </p:ext>
            </p:extLst>
          </p:nvPr>
        </p:nvGraphicFramePr>
        <p:xfrm>
          <a:off x="283594" y="1490152"/>
          <a:ext cx="1404000" cy="180000"/>
        </p:xfrm>
        <a:graphic>
          <a:graphicData uri="http://schemas.openxmlformats.org/drawingml/2006/table">
            <a:tbl>
              <a:tblPr/>
              <a:tblGrid>
                <a:gridCol w="1404000">
                  <a:extLst>
                    <a:ext uri="{9D8B030D-6E8A-4147-A177-3AD203B41FA5}">
                      <a16:colId xmlns:a16="http://schemas.microsoft.com/office/drawing/2014/main" val="155140222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</a:t>
                      </a: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质量控制策划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245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2A780BF-847F-B3A5-7511-9C2E2EB98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613747"/>
              </p:ext>
            </p:extLst>
          </p:nvPr>
        </p:nvGraphicFramePr>
        <p:xfrm>
          <a:off x="1916130" y="1496262"/>
          <a:ext cx="1332000" cy="180000"/>
        </p:xfrm>
        <a:graphic>
          <a:graphicData uri="http://schemas.openxmlformats.org/drawingml/2006/table">
            <a:tbl>
              <a:tblPr/>
              <a:tblGrid>
                <a:gridCol w="1332000">
                  <a:extLst>
                    <a:ext uri="{9D8B030D-6E8A-4147-A177-3AD203B41FA5}">
                      <a16:colId xmlns:a16="http://schemas.microsoft.com/office/drawing/2014/main" val="427054603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产品试制管理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6561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88F5049A-E007-9FDF-92F1-4E79510F9B2D}"/>
              </a:ext>
            </a:extLst>
          </p:cNvPr>
          <p:cNvSpPr/>
          <p:nvPr/>
        </p:nvSpPr>
        <p:spPr>
          <a:xfrm>
            <a:off x="3509891" y="1181242"/>
            <a:ext cx="1548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生产准备管理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5ACCA24-3BA0-D704-D1E1-AB2F6DC7C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965551"/>
              </p:ext>
            </p:extLst>
          </p:nvPr>
        </p:nvGraphicFramePr>
        <p:xfrm>
          <a:off x="3512211" y="1490441"/>
          <a:ext cx="1648800" cy="144000"/>
        </p:xfrm>
        <a:graphic>
          <a:graphicData uri="http://schemas.openxmlformats.org/drawingml/2006/table">
            <a:tbl>
              <a:tblPr/>
              <a:tblGrid>
                <a:gridCol w="1648800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人员技能管理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949632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C1B89A61-0249-D486-B4F2-D71700FDB7C4}"/>
              </a:ext>
            </a:extLst>
          </p:cNvPr>
          <p:cNvSpPr/>
          <p:nvPr/>
        </p:nvSpPr>
        <p:spPr>
          <a:xfrm>
            <a:off x="5393985" y="1181242"/>
            <a:ext cx="1296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生产过程管理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340B40-F885-9338-0605-3E835077D609}"/>
              </a:ext>
            </a:extLst>
          </p:cNvPr>
          <p:cNvSpPr/>
          <p:nvPr/>
        </p:nvSpPr>
        <p:spPr>
          <a:xfrm>
            <a:off x="7042048" y="1181242"/>
            <a:ext cx="1332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检验质量控制管理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B7CE43-3E09-026D-937D-B733C2A882D2}"/>
              </a:ext>
            </a:extLst>
          </p:cNvPr>
          <p:cNvSpPr/>
          <p:nvPr/>
        </p:nvSpPr>
        <p:spPr>
          <a:xfrm>
            <a:off x="7038874" y="4354237"/>
            <a:ext cx="1332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变更管理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464BD6-52A7-FA6E-B729-35A327DE17B3}"/>
              </a:ext>
            </a:extLst>
          </p:cNvPr>
          <p:cNvSpPr/>
          <p:nvPr/>
        </p:nvSpPr>
        <p:spPr>
          <a:xfrm>
            <a:off x="5386694" y="4668768"/>
            <a:ext cx="1296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质量绩效管理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0B96CE1-18B7-105B-AF01-D1FCBB23C771}"/>
              </a:ext>
            </a:extLst>
          </p:cNvPr>
          <p:cNvSpPr/>
          <p:nvPr/>
        </p:nvSpPr>
        <p:spPr>
          <a:xfrm>
            <a:off x="8705671" y="1181242"/>
            <a:ext cx="1332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工程技术体系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58F99B-3605-E7E8-3129-F177A145B8A6}"/>
              </a:ext>
            </a:extLst>
          </p:cNvPr>
          <p:cNvSpPr/>
          <p:nvPr/>
        </p:nvSpPr>
        <p:spPr>
          <a:xfrm>
            <a:off x="10383740" y="1181242"/>
            <a:ext cx="1332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质量数字化体系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C94733-11B8-8C67-BE0F-3006134B9F54}"/>
              </a:ext>
            </a:extLst>
          </p:cNvPr>
          <p:cNvSpPr/>
          <p:nvPr/>
        </p:nvSpPr>
        <p:spPr>
          <a:xfrm>
            <a:off x="8711190" y="3459304"/>
            <a:ext cx="1332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客户质量提升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B68A435-DF22-278A-C2D7-5CA92E55499E}"/>
              </a:ext>
            </a:extLst>
          </p:cNvPr>
          <p:cNvSpPr/>
          <p:nvPr/>
        </p:nvSpPr>
        <p:spPr>
          <a:xfrm>
            <a:off x="10395376" y="3835887"/>
            <a:ext cx="1332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人员能力提升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847E4D-10DA-EA10-BB37-530510A3CC1A}"/>
              </a:ext>
            </a:extLst>
          </p:cNvPr>
          <p:cNvSpPr/>
          <p:nvPr/>
        </p:nvSpPr>
        <p:spPr>
          <a:xfrm>
            <a:off x="10409224" y="5100215"/>
            <a:ext cx="1332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持续改善</a:t>
            </a: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CB3D5D2F-27E5-7282-EB9A-0909EA5684F7}"/>
              </a:ext>
            </a:extLst>
          </p:cNvPr>
          <p:cNvCxnSpPr>
            <a:cxnSpLocks/>
          </p:cNvCxnSpPr>
          <p:nvPr/>
        </p:nvCxnSpPr>
        <p:spPr>
          <a:xfrm rot="5400000">
            <a:off x="9920406" y="1009477"/>
            <a:ext cx="432000" cy="18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CBE31805-2979-7DC4-EB1D-C903995CE8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34235" y="2981438"/>
            <a:ext cx="4356000" cy="18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1835D1AD-1CBA-E935-38D4-7E0671149AA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98651" y="1046963"/>
            <a:ext cx="396000" cy="144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D5645828-DDE1-5D35-D599-F11C88D541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6969" y="2287859"/>
            <a:ext cx="3240000" cy="144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B272D9D3-563F-4FA6-3520-58B32FE6EE68}"/>
              </a:ext>
            </a:extLst>
          </p:cNvPr>
          <p:cNvCxnSpPr>
            <a:cxnSpLocks/>
          </p:cNvCxnSpPr>
          <p:nvPr/>
        </p:nvCxnSpPr>
        <p:spPr>
          <a:xfrm rot="5400000">
            <a:off x="8817877" y="2199227"/>
            <a:ext cx="2628000" cy="18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0EC4434D-6A8F-2338-526A-FE488542A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089665"/>
              </p:ext>
            </p:extLst>
          </p:nvPr>
        </p:nvGraphicFramePr>
        <p:xfrm>
          <a:off x="432152" y="5919269"/>
          <a:ext cx="1138446" cy="602238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49545993"/>
                    </a:ext>
                  </a:extLst>
                </a:gridCol>
                <a:gridCol w="598446">
                  <a:extLst>
                    <a:ext uri="{9D8B030D-6E8A-4147-A177-3AD203B41FA5}">
                      <a16:colId xmlns:a16="http://schemas.microsoft.com/office/drawing/2014/main" val="2973889813"/>
                    </a:ext>
                  </a:extLst>
                </a:gridCol>
              </a:tblGrid>
              <a:tr h="200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MQMS 1.0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61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6505"/>
                  </a:ext>
                </a:extLst>
              </a:tr>
              <a:tr h="200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MQMS 2.0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84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3228"/>
                  </a:ext>
                </a:extLst>
              </a:tr>
              <a:tr h="2007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otal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145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872405"/>
                  </a:ext>
                </a:extLst>
              </a:tr>
            </a:tbl>
          </a:graphicData>
        </a:graphic>
      </p:graphicFrame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E3C163C7-001E-0896-E60E-3A24515DB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99226"/>
              </p:ext>
            </p:extLst>
          </p:nvPr>
        </p:nvGraphicFramePr>
        <p:xfrm>
          <a:off x="284199" y="2379288"/>
          <a:ext cx="1404000" cy="180000"/>
        </p:xfrm>
        <a:graphic>
          <a:graphicData uri="http://schemas.openxmlformats.org/drawingml/2006/table">
            <a:tbl>
              <a:tblPr/>
              <a:tblGrid>
                <a:gridCol w="1404000">
                  <a:extLst>
                    <a:ext uri="{9D8B030D-6E8A-4147-A177-3AD203B41FA5}">
                      <a16:colId xmlns:a16="http://schemas.microsoft.com/office/drawing/2014/main" val="155140222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过程质量控制策划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298999"/>
                  </a:ext>
                </a:extLst>
              </a:tr>
            </a:tbl>
          </a:graphicData>
        </a:graphic>
      </p:graphicFrame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7F7086DA-E0F9-BA7E-44F3-4FC44870F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62427"/>
              </p:ext>
            </p:extLst>
          </p:nvPr>
        </p:nvGraphicFramePr>
        <p:xfrm>
          <a:off x="390756" y="1699190"/>
          <a:ext cx="1296000" cy="64536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155140222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DFM&amp;NUDD&amp;QCP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管控流程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37201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TC/TI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管控标准和流程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26231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QLL&amp;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Fupan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&amp; Guideline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25503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ORT/QV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11796"/>
                  </a:ext>
                </a:extLst>
              </a:tr>
            </a:tbl>
          </a:graphicData>
        </a:graphic>
      </p:graphicFrame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4B0FB8B6-B3C0-1F98-C950-ABEA92046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920549"/>
              </p:ext>
            </p:extLst>
          </p:nvPr>
        </p:nvGraphicFramePr>
        <p:xfrm>
          <a:off x="392970" y="2579687"/>
          <a:ext cx="1296000" cy="432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155140222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IT system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管控标准和流程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5855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Equipment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管控标准和流程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7939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Fixture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管控标准和流程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567072"/>
                  </a:ext>
                </a:extLst>
              </a:tr>
            </a:tbl>
          </a:graphicData>
        </a:graphic>
      </p:graphicFrame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DD87F88F-5F77-D6BA-FB59-4F075B2BD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682432"/>
              </p:ext>
            </p:extLst>
          </p:nvPr>
        </p:nvGraphicFramePr>
        <p:xfrm>
          <a:off x="402927" y="4317015"/>
          <a:ext cx="1290548" cy="476250"/>
        </p:xfrm>
        <a:graphic>
          <a:graphicData uri="http://schemas.openxmlformats.org/drawingml/2006/table">
            <a:tbl>
              <a:tblPr/>
              <a:tblGrid>
                <a:gridCol w="1290548">
                  <a:extLst>
                    <a:ext uri="{9D8B030D-6E8A-4147-A177-3AD203B41FA5}">
                      <a16:colId xmlns:a16="http://schemas.microsoft.com/office/drawing/2014/main" val="2468990196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TTQ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3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TTQ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评分规则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290147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WFB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质量管理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07463"/>
                  </a:ext>
                </a:extLst>
              </a:tr>
            </a:tbl>
          </a:graphicData>
        </a:graphic>
      </p:graphicFrame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52D00D91-96B1-DB24-3A79-9EF537923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109211"/>
              </p:ext>
            </p:extLst>
          </p:nvPr>
        </p:nvGraphicFramePr>
        <p:xfrm>
          <a:off x="398415" y="3613691"/>
          <a:ext cx="1290548" cy="476250"/>
        </p:xfrm>
        <a:graphic>
          <a:graphicData uri="http://schemas.openxmlformats.org/drawingml/2006/table">
            <a:tbl>
              <a:tblPr/>
              <a:tblGrid>
                <a:gridCol w="1290548">
                  <a:extLst>
                    <a:ext uri="{9D8B030D-6E8A-4147-A177-3AD203B41FA5}">
                      <a16:colId xmlns:a16="http://schemas.microsoft.com/office/drawing/2014/main" val="2468990196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产品标准管理规范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994058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检验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编写管理规范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087525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新品停复线管理流程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58122"/>
                  </a:ext>
                </a:extLst>
              </a:tr>
            </a:tbl>
          </a:graphicData>
        </a:graphic>
      </p:graphicFrame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10EE202F-656A-228C-1BEC-2746EA7AC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066572"/>
              </p:ext>
            </p:extLst>
          </p:nvPr>
        </p:nvGraphicFramePr>
        <p:xfrm>
          <a:off x="289624" y="4110039"/>
          <a:ext cx="1404000" cy="158750"/>
        </p:xfrm>
        <a:graphic>
          <a:graphicData uri="http://schemas.openxmlformats.org/drawingml/2006/table">
            <a:tbl>
              <a:tblPr/>
              <a:tblGrid>
                <a:gridCol w="1404000">
                  <a:extLst>
                    <a:ext uri="{9D8B030D-6E8A-4147-A177-3AD203B41FA5}">
                      <a16:colId xmlns:a16="http://schemas.microsoft.com/office/drawing/2014/main" val="2468990196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Ramp up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质量管理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24736"/>
                  </a:ext>
                </a:extLst>
              </a:tr>
            </a:tbl>
          </a:graphicData>
        </a:graphic>
      </p:graphicFrame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9B7D67FA-82D1-AC84-68B1-F0692216A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898984"/>
              </p:ext>
            </p:extLst>
          </p:nvPr>
        </p:nvGraphicFramePr>
        <p:xfrm>
          <a:off x="2036888" y="1713989"/>
          <a:ext cx="1216543" cy="432000"/>
        </p:xfrm>
        <a:graphic>
          <a:graphicData uri="http://schemas.openxmlformats.org/drawingml/2006/table">
            <a:tbl>
              <a:tblPr/>
              <a:tblGrid>
                <a:gridCol w="1216543">
                  <a:extLst>
                    <a:ext uri="{9D8B030D-6E8A-4147-A177-3AD203B41FA5}">
                      <a16:colId xmlns:a16="http://schemas.microsoft.com/office/drawing/2014/main" val="427054603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生产准备管控流程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8334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生产准备产前会议管理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563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新产品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build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管控流程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854489"/>
                  </a:ext>
                </a:extLst>
              </a:tr>
            </a:tbl>
          </a:graphicData>
        </a:graphic>
      </p:graphicFrame>
      <p:graphicFrame>
        <p:nvGraphicFramePr>
          <p:cNvPr id="59" name="表格 58">
            <a:extLst>
              <a:ext uri="{FF2B5EF4-FFF2-40B4-BE49-F238E27FC236}">
                <a16:creationId xmlns:a16="http://schemas.microsoft.com/office/drawing/2014/main" id="{7A6ED5F2-0E83-E1BA-FE46-3C2EE17C3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64200"/>
              </p:ext>
            </p:extLst>
          </p:nvPr>
        </p:nvGraphicFramePr>
        <p:xfrm>
          <a:off x="1919887" y="2183716"/>
          <a:ext cx="1332000" cy="180000"/>
        </p:xfrm>
        <a:graphic>
          <a:graphicData uri="http://schemas.openxmlformats.org/drawingml/2006/table">
            <a:tbl>
              <a:tblPr/>
              <a:tblGrid>
                <a:gridCol w="1332000">
                  <a:extLst>
                    <a:ext uri="{9D8B030D-6E8A-4147-A177-3AD203B41FA5}">
                      <a16:colId xmlns:a16="http://schemas.microsoft.com/office/drawing/2014/main" val="427054603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NPI G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ate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74093"/>
                  </a:ext>
                </a:extLst>
              </a:tr>
            </a:tbl>
          </a:graphicData>
        </a:graphic>
      </p:graphicFrame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B58659E0-29C3-E610-B9D4-4A535EB55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369498"/>
              </p:ext>
            </p:extLst>
          </p:nvPr>
        </p:nvGraphicFramePr>
        <p:xfrm>
          <a:off x="2044502" y="2401669"/>
          <a:ext cx="1216543" cy="357360"/>
        </p:xfrm>
        <a:graphic>
          <a:graphicData uri="http://schemas.openxmlformats.org/drawingml/2006/table">
            <a:tbl>
              <a:tblPr/>
              <a:tblGrid>
                <a:gridCol w="1216543">
                  <a:extLst>
                    <a:ext uri="{9D8B030D-6E8A-4147-A177-3AD203B41FA5}">
                      <a16:colId xmlns:a16="http://schemas.microsoft.com/office/drawing/2014/main" val="427054603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PC MQE NPI Dashboard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管控规范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3759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NPI Safe Launch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8927"/>
                  </a:ext>
                </a:extLst>
              </a:tr>
            </a:tbl>
          </a:graphicData>
        </a:graphic>
      </p:graphicFrame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F43E0739-A301-079F-A7A6-28FD60328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4216"/>
              </p:ext>
            </p:extLst>
          </p:nvPr>
        </p:nvGraphicFramePr>
        <p:xfrm>
          <a:off x="3639209" y="5134527"/>
          <a:ext cx="1527044" cy="907200"/>
        </p:xfrm>
        <a:graphic>
          <a:graphicData uri="http://schemas.openxmlformats.org/drawingml/2006/table">
            <a:tbl>
              <a:tblPr/>
              <a:tblGrid>
                <a:gridCol w="1527044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标准线速管控规范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626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线体防护标准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98959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ESD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防护及管理规范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1628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线体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Q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ualify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标准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14606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管控标准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057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开线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换线流程管理规范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00704"/>
                  </a:ext>
                </a:extLst>
              </a:tr>
            </a:tbl>
          </a:graphicData>
        </a:graphic>
      </p:graphicFrame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8911B671-5F34-70D1-539D-DA3C3B2E6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025125"/>
              </p:ext>
            </p:extLst>
          </p:nvPr>
        </p:nvGraphicFramePr>
        <p:xfrm>
          <a:off x="3624394" y="1639991"/>
          <a:ext cx="1530571" cy="604800"/>
        </p:xfrm>
        <a:graphic>
          <a:graphicData uri="http://schemas.openxmlformats.org/drawingml/2006/table">
            <a:tbl>
              <a:tblPr/>
              <a:tblGrid>
                <a:gridCol w="1530571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新人培训和认证流程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51884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新人岗位适配追踪流程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13467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CTQ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人员认证流程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8136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人员技能提升和质量培训管理规范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183408"/>
                  </a:ext>
                </a:extLst>
              </a:tr>
            </a:tbl>
          </a:graphicData>
        </a:graphic>
      </p:graphicFrame>
      <p:graphicFrame>
        <p:nvGraphicFramePr>
          <p:cNvPr id="63" name="表格 62">
            <a:extLst>
              <a:ext uri="{FF2B5EF4-FFF2-40B4-BE49-F238E27FC236}">
                <a16:creationId xmlns:a16="http://schemas.microsoft.com/office/drawing/2014/main" id="{914816A4-04FB-BA80-DEB7-603C14356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056937"/>
              </p:ext>
            </p:extLst>
          </p:nvPr>
        </p:nvGraphicFramePr>
        <p:xfrm>
          <a:off x="3512211" y="2279890"/>
          <a:ext cx="1648800" cy="144000"/>
        </p:xfrm>
        <a:graphic>
          <a:graphicData uri="http://schemas.openxmlformats.org/drawingml/2006/table">
            <a:tbl>
              <a:tblPr/>
              <a:tblGrid>
                <a:gridCol w="1648800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设备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治具质量控制精细化管理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434571"/>
                  </a:ext>
                </a:extLst>
              </a:tr>
            </a:tbl>
          </a:graphicData>
        </a:graphic>
      </p:graphicFrame>
      <p:graphicFrame>
        <p:nvGraphicFramePr>
          <p:cNvPr id="64" name="表格 63">
            <a:extLst>
              <a:ext uri="{FF2B5EF4-FFF2-40B4-BE49-F238E27FC236}">
                <a16:creationId xmlns:a16="http://schemas.microsoft.com/office/drawing/2014/main" id="{EDB8E2E0-4FB0-BFA3-984E-8931603C4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77639"/>
              </p:ext>
            </p:extLst>
          </p:nvPr>
        </p:nvGraphicFramePr>
        <p:xfrm>
          <a:off x="3630744" y="2438274"/>
          <a:ext cx="1530571" cy="1058400"/>
        </p:xfrm>
        <a:graphic>
          <a:graphicData uri="http://schemas.openxmlformats.org/drawingml/2006/table">
            <a:tbl>
              <a:tblPr/>
              <a:tblGrid>
                <a:gridCol w="1530571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新设备认证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备件管理流程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1616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设备点检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维护保养管理规范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2556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BOX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治具保养点检规范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926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设备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治具与产品匹配确认流程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1408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治具设计通用规范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9365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自动化质量执行标准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46099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自动化设备维护保养流程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717347"/>
                  </a:ext>
                </a:extLst>
              </a:tr>
            </a:tbl>
          </a:graphicData>
        </a:graphic>
      </p:graphicFrame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3D9B3997-163A-706F-411E-02FF081A1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734365"/>
              </p:ext>
            </p:extLst>
          </p:nvPr>
        </p:nvGraphicFramePr>
        <p:xfrm>
          <a:off x="3637094" y="3660327"/>
          <a:ext cx="1530571" cy="453600"/>
        </p:xfrm>
        <a:graphic>
          <a:graphicData uri="http://schemas.openxmlformats.org/drawingml/2006/table">
            <a:tbl>
              <a:tblPr/>
              <a:tblGrid>
                <a:gridCol w="1530571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XX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物料管理作业规范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9596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生产物料管理规范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38218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BOM Check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管理规范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279964"/>
                  </a:ext>
                </a:extLst>
              </a:tr>
            </a:tbl>
          </a:graphicData>
        </a:graphic>
      </p:graphicFrame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BAA446C8-897A-4449-4C3D-B2307EDFF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359994"/>
              </p:ext>
            </p:extLst>
          </p:nvPr>
        </p:nvGraphicFramePr>
        <p:xfrm>
          <a:off x="3633919" y="4318396"/>
          <a:ext cx="1530571" cy="604800"/>
        </p:xfrm>
        <a:graphic>
          <a:graphicData uri="http://schemas.openxmlformats.org/drawingml/2006/table">
            <a:tbl>
              <a:tblPr/>
              <a:tblGrid>
                <a:gridCol w="1530571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作业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编写管理规范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1796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关键工序管理规范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659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检验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3384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特殊线体管控规范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如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cell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线体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322157"/>
                  </a:ext>
                </a:extLst>
              </a:tr>
            </a:tbl>
          </a:graphicData>
        </a:graphic>
      </p:graphicFrame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DED4C89C-43CC-7124-3199-6807298C0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522973"/>
              </p:ext>
            </p:extLst>
          </p:nvPr>
        </p:nvGraphicFramePr>
        <p:xfrm>
          <a:off x="5498621" y="3616559"/>
          <a:ext cx="1296000" cy="1008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1161570125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NTF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复判流程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9192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内结构检验升级流程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32055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不良品维修流程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29260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维修员等级认证标准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06909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维修等级自动匹配和升级流程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66696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维修现场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12320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Key Parts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更换管控规范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676660"/>
                  </a:ext>
                </a:extLst>
              </a:tr>
            </a:tbl>
          </a:graphicData>
        </a:graphic>
      </p:graphicFrame>
      <p:graphicFrame>
        <p:nvGraphicFramePr>
          <p:cNvPr id="74" name="表格 73">
            <a:extLst>
              <a:ext uri="{FF2B5EF4-FFF2-40B4-BE49-F238E27FC236}">
                <a16:creationId xmlns:a16="http://schemas.microsoft.com/office/drawing/2014/main" id="{4F174A86-4A69-F80A-901C-B2F89E884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66597"/>
              </p:ext>
            </p:extLst>
          </p:nvPr>
        </p:nvGraphicFramePr>
        <p:xfrm>
          <a:off x="5498361" y="1659375"/>
          <a:ext cx="1296000" cy="864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1161570125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螺丝管理规范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4536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换线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Readiness Check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97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AOI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建模标准和管理流程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4974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尾数管理规范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90282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标识和可追溯性控制规范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1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开线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换线管理规范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36964"/>
                  </a:ext>
                </a:extLst>
              </a:tr>
            </a:tbl>
          </a:graphicData>
        </a:graphic>
      </p:graphicFrame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602924ED-3761-13C9-C69A-FE5DE856F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930190"/>
              </p:ext>
            </p:extLst>
          </p:nvPr>
        </p:nvGraphicFramePr>
        <p:xfrm>
          <a:off x="5497476" y="2725733"/>
          <a:ext cx="1296000" cy="720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04121588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材料异常处理流程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98756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产品离线管理规范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87205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作业异常处理流程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13984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设备异常处理流程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0302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缺料异常处理流程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745438"/>
                  </a:ext>
                </a:extLst>
              </a:tr>
            </a:tbl>
          </a:graphicData>
        </a:graphic>
      </p:graphicFrame>
      <p:graphicFrame>
        <p:nvGraphicFramePr>
          <p:cNvPr id="78" name="表格 77">
            <a:extLst>
              <a:ext uri="{FF2B5EF4-FFF2-40B4-BE49-F238E27FC236}">
                <a16:creationId xmlns:a16="http://schemas.microsoft.com/office/drawing/2014/main" id="{85C59779-E56F-E420-A5CB-2EBB67CA2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045282"/>
              </p:ext>
            </p:extLst>
          </p:nvPr>
        </p:nvGraphicFramePr>
        <p:xfrm>
          <a:off x="5506433" y="5908856"/>
          <a:ext cx="1296000" cy="635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739743725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KPI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标准管理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80556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售后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KPI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标准管理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129245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OBE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422835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KPI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标杆管理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462022"/>
                  </a:ext>
                </a:extLst>
              </a:tr>
            </a:tbl>
          </a:graphicData>
        </a:graphic>
      </p:graphicFrame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7E3DE4A8-22D1-9958-DEB6-DB65743DD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927113"/>
              </p:ext>
            </p:extLst>
          </p:nvPr>
        </p:nvGraphicFramePr>
        <p:xfrm>
          <a:off x="5494417" y="5190073"/>
          <a:ext cx="1296000" cy="47625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739743725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引领性指标管理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433899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FPY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持续改善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36653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Audit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持续改善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63127"/>
                  </a:ext>
                </a:extLst>
              </a:tr>
            </a:tbl>
          </a:graphicData>
        </a:graphic>
      </p:graphicFrame>
      <p:graphicFrame>
        <p:nvGraphicFramePr>
          <p:cNvPr id="82" name="表格 81">
            <a:extLst>
              <a:ext uri="{FF2B5EF4-FFF2-40B4-BE49-F238E27FC236}">
                <a16:creationId xmlns:a16="http://schemas.microsoft.com/office/drawing/2014/main" id="{42A66933-F380-AB59-66A2-3E44BCFE7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071295"/>
              </p:ext>
            </p:extLst>
          </p:nvPr>
        </p:nvGraphicFramePr>
        <p:xfrm>
          <a:off x="7138664" y="1648171"/>
          <a:ext cx="1346200" cy="7200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417690514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产品检验标准管理规范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944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检验员培训管理规范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4286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FAI MI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编写管理规范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95136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HOLD&amp;UNHOLD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01358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异常升级标准管理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244108"/>
                  </a:ext>
                </a:extLst>
              </a:tr>
            </a:tbl>
          </a:graphicData>
        </a:graphic>
      </p:graphicFrame>
      <p:graphicFrame>
        <p:nvGraphicFramePr>
          <p:cNvPr id="84" name="表格 83">
            <a:extLst>
              <a:ext uri="{FF2B5EF4-FFF2-40B4-BE49-F238E27FC236}">
                <a16:creationId xmlns:a16="http://schemas.microsoft.com/office/drawing/2014/main" id="{7E1BCAC1-956F-D255-1AD4-967025FF9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456328"/>
              </p:ext>
            </p:extLst>
          </p:nvPr>
        </p:nvGraphicFramePr>
        <p:xfrm>
          <a:off x="7142903" y="2550555"/>
          <a:ext cx="1346200" cy="4320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417690514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成品抽验管理规范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76786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FAI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98658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随线检验管理规范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811908"/>
                  </a:ext>
                </a:extLst>
              </a:tr>
            </a:tbl>
          </a:graphicData>
        </a:graphic>
      </p:graphicFrame>
      <p:graphicFrame>
        <p:nvGraphicFramePr>
          <p:cNvPr id="86" name="表格 85">
            <a:extLst>
              <a:ext uri="{FF2B5EF4-FFF2-40B4-BE49-F238E27FC236}">
                <a16:creationId xmlns:a16="http://schemas.microsoft.com/office/drawing/2014/main" id="{B5336DF6-6DC7-4420-FDC5-EBEF3D2BA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032441"/>
              </p:ext>
            </p:extLst>
          </p:nvPr>
        </p:nvGraphicFramePr>
        <p:xfrm>
          <a:off x="7151367" y="3152239"/>
          <a:ext cx="1346200" cy="720000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417690514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检验异常管理流程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86677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外观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功能不良品复判流程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2925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不良品处理流程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9325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产线停线标准管理规范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53637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Rework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572988"/>
                  </a:ext>
                </a:extLst>
              </a:tr>
            </a:tbl>
          </a:graphicData>
        </a:graphic>
      </p:graphicFrame>
      <p:graphicFrame>
        <p:nvGraphicFramePr>
          <p:cNvPr id="87" name="表格 86">
            <a:extLst>
              <a:ext uri="{FF2B5EF4-FFF2-40B4-BE49-F238E27FC236}">
                <a16:creationId xmlns:a16="http://schemas.microsoft.com/office/drawing/2014/main" id="{4EE39D12-4134-00B7-1D9F-3CD9CD131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872888"/>
              </p:ext>
            </p:extLst>
          </p:nvPr>
        </p:nvGraphicFramePr>
        <p:xfrm>
          <a:off x="7145017" y="4038114"/>
          <a:ext cx="1360637" cy="288000"/>
        </p:xfrm>
        <a:graphic>
          <a:graphicData uri="http://schemas.openxmlformats.org/drawingml/2006/table">
            <a:tbl>
              <a:tblPr/>
              <a:tblGrid>
                <a:gridCol w="1360637">
                  <a:extLst>
                    <a:ext uri="{9D8B030D-6E8A-4147-A177-3AD203B41FA5}">
                      <a16:colId xmlns:a16="http://schemas.microsoft.com/office/drawing/2014/main" val="417690514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Special Bid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311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关键客户订单质量管理规范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809168"/>
                  </a:ext>
                </a:extLst>
              </a:tr>
            </a:tbl>
          </a:graphicData>
        </a:graphic>
      </p:graphicFrame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5BBE0EEF-0C45-367C-4C7A-1587009FD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853617"/>
              </p:ext>
            </p:extLst>
          </p:nvPr>
        </p:nvGraphicFramePr>
        <p:xfrm>
          <a:off x="7170355" y="5624721"/>
          <a:ext cx="1337544" cy="288000"/>
        </p:xfrm>
        <a:graphic>
          <a:graphicData uri="http://schemas.openxmlformats.org/drawingml/2006/table">
            <a:tbl>
              <a:tblPr/>
              <a:tblGrid>
                <a:gridCol w="1337544">
                  <a:extLst>
                    <a:ext uri="{9D8B030D-6E8A-4147-A177-3AD203B41FA5}">
                      <a16:colId xmlns:a16="http://schemas.microsoft.com/office/drawing/2014/main" val="380236367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CR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14250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BIOS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导入管理流程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23743"/>
                  </a:ext>
                </a:extLst>
              </a:tr>
            </a:tbl>
          </a:graphicData>
        </a:graphic>
      </p:graphicFrame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04D26E90-EAFD-BD33-9834-46CAD1614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02387"/>
              </p:ext>
            </p:extLst>
          </p:nvPr>
        </p:nvGraphicFramePr>
        <p:xfrm>
          <a:off x="7164436" y="4853094"/>
          <a:ext cx="1337544" cy="576000"/>
        </p:xfrm>
        <a:graphic>
          <a:graphicData uri="http://schemas.openxmlformats.org/drawingml/2006/table">
            <a:tbl>
              <a:tblPr/>
              <a:tblGrid>
                <a:gridCol w="1337544">
                  <a:extLst>
                    <a:ext uri="{9D8B030D-6E8A-4147-A177-3AD203B41FA5}">
                      <a16:colId xmlns:a16="http://schemas.microsoft.com/office/drawing/2014/main" val="380236367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PCN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6689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ECN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4228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MEMO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56585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PSO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06241"/>
                  </a:ext>
                </a:extLst>
              </a:tr>
            </a:tbl>
          </a:graphicData>
        </a:graphic>
      </p:graphicFrame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8E76E44C-3102-689F-D186-16E4DC8D8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33757"/>
              </p:ext>
            </p:extLst>
          </p:nvPr>
        </p:nvGraphicFramePr>
        <p:xfrm>
          <a:off x="7161075" y="6123040"/>
          <a:ext cx="1359715" cy="432000"/>
        </p:xfrm>
        <a:graphic>
          <a:graphicData uri="http://schemas.openxmlformats.org/drawingml/2006/table">
            <a:tbl>
              <a:tblPr/>
              <a:tblGrid>
                <a:gridCol w="1359715">
                  <a:extLst>
                    <a:ext uri="{9D8B030D-6E8A-4147-A177-3AD203B41FA5}">
                      <a16:colId xmlns:a16="http://schemas.microsoft.com/office/drawing/2014/main" val="380236367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转厂质量管理规范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1077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外协制程质量管理规范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8819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外协厂商考核管理规范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73519"/>
                  </a:ext>
                </a:extLst>
              </a:tr>
            </a:tbl>
          </a:graphicData>
        </a:graphic>
      </p:graphicFrame>
      <p:graphicFrame>
        <p:nvGraphicFramePr>
          <p:cNvPr id="93" name="表格 92">
            <a:extLst>
              <a:ext uri="{FF2B5EF4-FFF2-40B4-BE49-F238E27FC236}">
                <a16:creationId xmlns:a16="http://schemas.microsoft.com/office/drawing/2014/main" id="{C3E34B17-6C4C-51C5-D9E2-4E087CE3C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134609"/>
              </p:ext>
            </p:extLst>
          </p:nvPr>
        </p:nvGraphicFramePr>
        <p:xfrm>
          <a:off x="8785807" y="2233831"/>
          <a:ext cx="1331999" cy="648000"/>
        </p:xfrm>
        <a:graphic>
          <a:graphicData uri="http://schemas.openxmlformats.org/drawingml/2006/table">
            <a:tbl>
              <a:tblPr/>
              <a:tblGrid>
                <a:gridCol w="1331999">
                  <a:extLst>
                    <a:ext uri="{9D8B030D-6E8A-4147-A177-3AD203B41FA5}">
                      <a16:colId xmlns:a16="http://schemas.microsoft.com/office/drawing/2014/main" val="2986341504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测试能力研究及提升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246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制造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系统能力研究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33035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关键治工具研究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51131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关键制程能力应用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61600"/>
                  </a:ext>
                </a:extLst>
              </a:tr>
            </a:tbl>
          </a:graphicData>
        </a:graphic>
      </p:graphicFrame>
      <p:graphicFrame>
        <p:nvGraphicFramePr>
          <p:cNvPr id="94" name="表格 93">
            <a:extLst>
              <a:ext uri="{FF2B5EF4-FFF2-40B4-BE49-F238E27FC236}">
                <a16:creationId xmlns:a16="http://schemas.microsoft.com/office/drawing/2014/main" id="{CC709BDC-FF0B-B288-6E79-2020ABFBF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250106"/>
              </p:ext>
            </p:extLst>
          </p:nvPr>
        </p:nvGraphicFramePr>
        <p:xfrm>
          <a:off x="8780519" y="1687068"/>
          <a:ext cx="1331999" cy="317500"/>
        </p:xfrm>
        <a:graphic>
          <a:graphicData uri="http://schemas.openxmlformats.org/drawingml/2006/table">
            <a:tbl>
              <a:tblPr/>
              <a:tblGrid>
                <a:gridCol w="1331999">
                  <a:extLst>
                    <a:ext uri="{9D8B030D-6E8A-4147-A177-3AD203B41FA5}">
                      <a16:colId xmlns:a16="http://schemas.microsoft.com/office/drawing/2014/main" val="2986341504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新工艺技术应用   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36334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生产和测试数据挖掘和应用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1674"/>
                  </a:ext>
                </a:extLst>
              </a:tr>
            </a:tbl>
          </a:graphicData>
        </a:graphic>
      </p:graphicFrame>
      <p:graphicFrame>
        <p:nvGraphicFramePr>
          <p:cNvPr id="96" name="表格 95">
            <a:extLst>
              <a:ext uri="{FF2B5EF4-FFF2-40B4-BE49-F238E27FC236}">
                <a16:creationId xmlns:a16="http://schemas.microsoft.com/office/drawing/2014/main" id="{CBB34A37-82D8-6393-0EAA-375A2F75D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156407"/>
              </p:ext>
            </p:extLst>
          </p:nvPr>
        </p:nvGraphicFramePr>
        <p:xfrm>
          <a:off x="8814831" y="5576444"/>
          <a:ext cx="1323691" cy="978594"/>
        </p:xfrm>
        <a:graphic>
          <a:graphicData uri="http://schemas.openxmlformats.org/drawingml/2006/table">
            <a:tbl>
              <a:tblPr/>
              <a:tblGrid>
                <a:gridCol w="1323691">
                  <a:extLst>
                    <a:ext uri="{9D8B030D-6E8A-4147-A177-3AD203B41FA5}">
                      <a16:colId xmlns:a16="http://schemas.microsoft.com/office/drawing/2014/main" val="3601038460"/>
                    </a:ext>
                  </a:extLst>
                </a:gridCol>
              </a:tblGrid>
              <a:tr h="163099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服务质量管理规范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02677"/>
                  </a:ext>
                </a:extLst>
              </a:tr>
              <a:tr h="163099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海外第三方导入流程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171435"/>
                  </a:ext>
                </a:extLst>
              </a:tr>
              <a:tr h="163099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海外第三方管理流程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755847"/>
                  </a:ext>
                </a:extLst>
              </a:tr>
              <a:tr h="163099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海外产品质量控制流程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265577"/>
                  </a:ext>
                </a:extLst>
              </a:tr>
              <a:tr h="163099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海外不良处理流程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924546"/>
                  </a:ext>
                </a:extLst>
              </a:tr>
              <a:tr h="163099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全球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VID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数据分析流程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80194"/>
                  </a:ext>
                </a:extLst>
              </a:tr>
            </a:tbl>
          </a:graphicData>
        </a:graphic>
      </p:graphicFrame>
      <p:graphicFrame>
        <p:nvGraphicFramePr>
          <p:cNvPr id="97" name="表格 96">
            <a:extLst>
              <a:ext uri="{FF2B5EF4-FFF2-40B4-BE49-F238E27FC236}">
                <a16:creationId xmlns:a16="http://schemas.microsoft.com/office/drawing/2014/main" id="{567C2B82-618B-8D95-A540-6C20C747C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226830"/>
              </p:ext>
            </p:extLst>
          </p:nvPr>
        </p:nvGraphicFramePr>
        <p:xfrm>
          <a:off x="8804248" y="3939270"/>
          <a:ext cx="1323691" cy="432000"/>
        </p:xfrm>
        <a:graphic>
          <a:graphicData uri="http://schemas.openxmlformats.org/drawingml/2006/table">
            <a:tbl>
              <a:tblPr/>
              <a:tblGrid>
                <a:gridCol w="1323691">
                  <a:extLst>
                    <a:ext uri="{9D8B030D-6E8A-4147-A177-3AD203B41FA5}">
                      <a16:colId xmlns:a16="http://schemas.microsoft.com/office/drawing/2014/main" val="3601038460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客诉处理流程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54374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客诉信息传递流程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6777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快速响应管理规范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5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80529"/>
                  </a:ext>
                </a:extLst>
              </a:tr>
            </a:tbl>
          </a:graphicData>
        </a:graphic>
      </p:graphicFrame>
      <p:graphicFrame>
        <p:nvGraphicFramePr>
          <p:cNvPr id="99" name="表格 98">
            <a:extLst>
              <a:ext uri="{FF2B5EF4-FFF2-40B4-BE49-F238E27FC236}">
                <a16:creationId xmlns:a16="http://schemas.microsoft.com/office/drawing/2014/main" id="{D998CEF8-771E-E8B0-F868-F855BCCCC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895575"/>
              </p:ext>
            </p:extLst>
          </p:nvPr>
        </p:nvGraphicFramePr>
        <p:xfrm>
          <a:off x="8803192" y="4549640"/>
          <a:ext cx="1323691" cy="324000"/>
        </p:xfrm>
        <a:graphic>
          <a:graphicData uri="http://schemas.openxmlformats.org/drawingml/2006/table">
            <a:tbl>
              <a:tblPr/>
              <a:tblGrid>
                <a:gridCol w="1323691">
                  <a:extLst>
                    <a:ext uri="{9D8B030D-6E8A-4147-A177-3AD203B41FA5}">
                      <a16:colId xmlns:a16="http://schemas.microsoft.com/office/drawing/2014/main" val="3601038460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主板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VLRR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分析流程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8442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主板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IFIR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分析流程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883921"/>
                  </a:ext>
                </a:extLst>
              </a:tr>
            </a:tbl>
          </a:graphicData>
        </a:graphic>
      </p:graphicFrame>
      <p:graphicFrame>
        <p:nvGraphicFramePr>
          <p:cNvPr id="101" name="表格 100">
            <a:extLst>
              <a:ext uri="{FF2B5EF4-FFF2-40B4-BE49-F238E27FC236}">
                <a16:creationId xmlns:a16="http://schemas.microsoft.com/office/drawing/2014/main" id="{DAEE3CE8-0FFD-BC8D-723B-FD70D5CF0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056891"/>
              </p:ext>
            </p:extLst>
          </p:nvPr>
        </p:nvGraphicFramePr>
        <p:xfrm>
          <a:off x="8803193" y="5048013"/>
          <a:ext cx="1323691" cy="324000"/>
        </p:xfrm>
        <a:graphic>
          <a:graphicData uri="http://schemas.openxmlformats.org/drawingml/2006/table">
            <a:tbl>
              <a:tblPr/>
              <a:tblGrid>
                <a:gridCol w="1323691">
                  <a:extLst>
                    <a:ext uri="{9D8B030D-6E8A-4147-A177-3AD203B41FA5}">
                      <a16:colId xmlns:a16="http://schemas.microsoft.com/office/drawing/2014/main" val="3601038460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QBR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评分标准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14522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QBR Benchmark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953719"/>
                  </a:ext>
                </a:extLst>
              </a:tr>
            </a:tbl>
          </a:graphicData>
        </a:graphic>
      </p:graphicFrame>
      <p:graphicFrame>
        <p:nvGraphicFramePr>
          <p:cNvPr id="103" name="表格 102">
            <a:extLst>
              <a:ext uri="{FF2B5EF4-FFF2-40B4-BE49-F238E27FC236}">
                <a16:creationId xmlns:a16="http://schemas.microsoft.com/office/drawing/2014/main" id="{85E0F1B1-00E8-EB0B-C65A-4CCBD838E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962773"/>
              </p:ext>
            </p:extLst>
          </p:nvPr>
        </p:nvGraphicFramePr>
        <p:xfrm>
          <a:off x="10396853" y="4139795"/>
          <a:ext cx="1440000" cy="1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318654235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工程师能力提升管理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525955"/>
                  </a:ext>
                </a:extLst>
              </a:tr>
            </a:tbl>
          </a:graphicData>
        </a:graphic>
      </p:graphicFrame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4BF31460-CB1A-52B3-DE81-698699B48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466415"/>
              </p:ext>
            </p:extLst>
          </p:nvPr>
        </p:nvGraphicFramePr>
        <p:xfrm>
          <a:off x="10513763" y="4815719"/>
          <a:ext cx="1331999" cy="266400"/>
        </p:xfrm>
        <a:graphic>
          <a:graphicData uri="http://schemas.openxmlformats.org/drawingml/2006/table">
            <a:tbl>
              <a:tblPr/>
              <a:tblGrid>
                <a:gridCol w="1331999">
                  <a:extLst>
                    <a:ext uri="{9D8B030D-6E8A-4147-A177-3AD203B41FA5}">
                      <a16:colId xmlns:a16="http://schemas.microsoft.com/office/drawing/2014/main" val="3186542352"/>
                    </a:ext>
                  </a:extLst>
                </a:gridCol>
              </a:tblGrid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领航者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启航者培养计划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525777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恒星计划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865513"/>
                  </a:ext>
                </a:extLst>
              </a:tr>
            </a:tbl>
          </a:graphicData>
        </a:graphic>
      </p:graphicFrame>
      <p:graphicFrame>
        <p:nvGraphicFramePr>
          <p:cNvPr id="105" name="表格 104">
            <a:extLst>
              <a:ext uri="{FF2B5EF4-FFF2-40B4-BE49-F238E27FC236}">
                <a16:creationId xmlns:a16="http://schemas.microsoft.com/office/drawing/2014/main" id="{B4948887-FD4E-D7B6-4352-97BF6DE7C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612957"/>
              </p:ext>
            </p:extLst>
          </p:nvPr>
        </p:nvGraphicFramePr>
        <p:xfrm>
          <a:off x="10510008" y="4323845"/>
          <a:ext cx="1331999" cy="266400"/>
        </p:xfrm>
        <a:graphic>
          <a:graphicData uri="http://schemas.openxmlformats.org/drawingml/2006/table">
            <a:tbl>
              <a:tblPr/>
              <a:tblGrid>
                <a:gridCol w="1331999">
                  <a:extLst>
                    <a:ext uri="{9D8B030D-6E8A-4147-A177-3AD203B41FA5}">
                      <a16:colId xmlns:a16="http://schemas.microsoft.com/office/drawing/2014/main" val="3186542352"/>
                    </a:ext>
                  </a:extLst>
                </a:gridCol>
              </a:tblGrid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校招生能力培养管理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455558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工程师能力提升项目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824861"/>
                  </a:ext>
                </a:extLst>
              </a:tr>
            </a:tbl>
          </a:graphicData>
        </a:graphic>
      </p:graphicFrame>
      <p:graphicFrame>
        <p:nvGraphicFramePr>
          <p:cNvPr id="107" name="表格 106">
            <a:extLst>
              <a:ext uri="{FF2B5EF4-FFF2-40B4-BE49-F238E27FC236}">
                <a16:creationId xmlns:a16="http://schemas.microsoft.com/office/drawing/2014/main" id="{8A3491A4-2BE2-890C-DC6F-42A347D9C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49441"/>
              </p:ext>
            </p:extLst>
          </p:nvPr>
        </p:nvGraphicFramePr>
        <p:xfrm>
          <a:off x="10502995" y="2352081"/>
          <a:ext cx="1327016" cy="1465200"/>
        </p:xfrm>
        <a:graphic>
          <a:graphicData uri="http://schemas.openxmlformats.org/drawingml/2006/table">
            <a:tbl>
              <a:tblPr/>
              <a:tblGrid>
                <a:gridCol w="1327016">
                  <a:extLst>
                    <a:ext uri="{9D8B030D-6E8A-4147-A177-3AD203B41FA5}">
                      <a16:colId xmlns:a16="http://schemas.microsoft.com/office/drawing/2014/main" val="1160903946"/>
                    </a:ext>
                  </a:extLst>
                </a:gridCol>
              </a:tblGrid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QCP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管理数字化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11460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PSO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管理数字化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126067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ECAT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可靠性测试管理数字化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952377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Audit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管理数字化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23268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Traceability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数字化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72093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海外第三方维修管理数字化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50527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Rework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过程监控数字化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390088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锡膏回收再利用系统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59814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Alert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数字化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40424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NPI Safe Launch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管理数字化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242307"/>
                  </a:ext>
                </a:extLst>
              </a:tr>
              <a:tr h="133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MFG Issue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管理数字化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482"/>
                  </a:ext>
                </a:extLst>
              </a:tr>
            </a:tbl>
          </a:graphicData>
        </a:graphic>
      </p:graphicFrame>
      <p:graphicFrame>
        <p:nvGraphicFramePr>
          <p:cNvPr id="108" name="表格 107">
            <a:extLst>
              <a:ext uri="{FF2B5EF4-FFF2-40B4-BE49-F238E27FC236}">
                <a16:creationId xmlns:a16="http://schemas.microsoft.com/office/drawing/2014/main" id="{343D1555-C312-1118-EF74-E626983DF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720763"/>
              </p:ext>
            </p:extLst>
          </p:nvPr>
        </p:nvGraphicFramePr>
        <p:xfrm>
          <a:off x="10493623" y="1709229"/>
          <a:ext cx="1327016" cy="432000"/>
        </p:xfrm>
        <a:graphic>
          <a:graphicData uri="http://schemas.openxmlformats.org/drawingml/2006/table">
            <a:tbl>
              <a:tblPr/>
              <a:tblGrid>
                <a:gridCol w="1327016">
                  <a:extLst>
                    <a:ext uri="{9D8B030D-6E8A-4147-A177-3AD203B41FA5}">
                      <a16:colId xmlns:a16="http://schemas.microsoft.com/office/drawing/2014/main" val="1160903946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OBE KPI Dashboard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99099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Global KPI Dashboard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18162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New FPY Dashboard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96921"/>
                  </a:ext>
                </a:extLst>
              </a:tr>
            </a:tbl>
          </a:graphicData>
        </a:graphic>
      </p:graphicFrame>
      <p:graphicFrame>
        <p:nvGraphicFramePr>
          <p:cNvPr id="110" name="表格 109">
            <a:extLst>
              <a:ext uri="{FF2B5EF4-FFF2-40B4-BE49-F238E27FC236}">
                <a16:creationId xmlns:a16="http://schemas.microsoft.com/office/drawing/2014/main" id="{5FC3ED10-AAE9-D0C9-2948-8E247C245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496477"/>
              </p:ext>
            </p:extLst>
          </p:nvPr>
        </p:nvGraphicFramePr>
        <p:xfrm>
          <a:off x="10526539" y="6044897"/>
          <a:ext cx="1321093" cy="504000"/>
        </p:xfrm>
        <a:graphic>
          <a:graphicData uri="http://schemas.openxmlformats.org/drawingml/2006/table">
            <a:tbl>
              <a:tblPr/>
              <a:tblGrid>
                <a:gridCol w="1321093">
                  <a:extLst>
                    <a:ext uri="{9D8B030D-6E8A-4147-A177-3AD203B41FA5}">
                      <a16:colId xmlns:a16="http://schemas.microsoft.com/office/drawing/2014/main" val="3958253114"/>
                    </a:ext>
                  </a:extLst>
                </a:gridCol>
              </a:tblGrid>
              <a:tr h="12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CLCA</a:t>
                      </a:r>
                    </a:p>
                  </a:txBody>
                  <a:tcPr marL="10800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070328"/>
                  </a:ext>
                </a:extLst>
              </a:tr>
              <a:tr h="12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Fupan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0800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9006"/>
                  </a:ext>
                </a:extLst>
              </a:tr>
              <a:tr h="12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L&amp;L</a:t>
                      </a:r>
                    </a:p>
                  </a:txBody>
                  <a:tcPr marL="10800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469137"/>
                  </a:ext>
                </a:extLst>
              </a:tr>
              <a:tr h="12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VOC&amp;VOB</a:t>
                      </a:r>
                    </a:p>
                  </a:txBody>
                  <a:tcPr marL="10800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784385"/>
                  </a:ext>
                </a:extLst>
              </a:tr>
            </a:tbl>
          </a:graphicData>
        </a:graphic>
      </p:graphicFrame>
      <p:graphicFrame>
        <p:nvGraphicFramePr>
          <p:cNvPr id="111" name="表格 110">
            <a:extLst>
              <a:ext uri="{FF2B5EF4-FFF2-40B4-BE49-F238E27FC236}">
                <a16:creationId xmlns:a16="http://schemas.microsoft.com/office/drawing/2014/main" id="{66C0A504-9E2B-4920-40AF-7F2199CA2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793700"/>
              </p:ext>
            </p:extLst>
          </p:nvPr>
        </p:nvGraphicFramePr>
        <p:xfrm>
          <a:off x="10512963" y="5592699"/>
          <a:ext cx="1321093" cy="252000"/>
        </p:xfrm>
        <a:graphic>
          <a:graphicData uri="http://schemas.openxmlformats.org/drawingml/2006/table">
            <a:tbl>
              <a:tblPr/>
              <a:tblGrid>
                <a:gridCol w="1321093">
                  <a:extLst>
                    <a:ext uri="{9D8B030D-6E8A-4147-A177-3AD203B41FA5}">
                      <a16:colId xmlns:a16="http://schemas.microsoft.com/office/drawing/2014/main" val="3958253114"/>
                    </a:ext>
                  </a:extLst>
                </a:gridCol>
              </a:tblGrid>
              <a:tr h="12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QCC</a:t>
                      </a:r>
                    </a:p>
                  </a:txBody>
                  <a:tcPr marL="10800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550225"/>
                  </a:ext>
                </a:extLst>
              </a:tr>
              <a:tr h="12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LSS</a:t>
                      </a:r>
                    </a:p>
                  </a:txBody>
                  <a:tcPr marL="10800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37284"/>
                  </a:ext>
                </a:extLst>
              </a:tr>
            </a:tbl>
          </a:graphicData>
        </a:graphic>
      </p:graphicFrame>
      <p:cxnSp>
        <p:nvCxnSpPr>
          <p:cNvPr id="116" name="连接符: 肘形 115">
            <a:extLst>
              <a:ext uri="{FF2B5EF4-FFF2-40B4-BE49-F238E27FC236}">
                <a16:creationId xmlns:a16="http://schemas.microsoft.com/office/drawing/2014/main" id="{7C36D77B-60D9-7820-2564-DE4755DC7D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5886" y="2012119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连接符: 肘形 117">
            <a:extLst>
              <a:ext uri="{FF2B5EF4-FFF2-40B4-BE49-F238E27FC236}">
                <a16:creationId xmlns:a16="http://schemas.microsoft.com/office/drawing/2014/main" id="{E880C62B-0EFD-4BBC-BF6B-47A3B1B88CF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1886" y="1780580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连接符: 肘形 124">
            <a:extLst>
              <a:ext uri="{FF2B5EF4-FFF2-40B4-BE49-F238E27FC236}">
                <a16:creationId xmlns:a16="http://schemas.microsoft.com/office/drawing/2014/main" id="{EFF08627-AB45-EC98-014C-788A181F2C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8211" y="3587319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连接符: 肘形 125">
            <a:extLst>
              <a:ext uri="{FF2B5EF4-FFF2-40B4-BE49-F238E27FC236}">
                <a16:creationId xmlns:a16="http://schemas.microsoft.com/office/drawing/2014/main" id="{28720B61-01CD-3851-4169-D19C66A0101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2211" y="3731698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肘形 126">
            <a:extLst>
              <a:ext uri="{FF2B5EF4-FFF2-40B4-BE49-F238E27FC236}">
                <a16:creationId xmlns:a16="http://schemas.microsoft.com/office/drawing/2014/main" id="{E7B73BD1-EBFA-B099-1C11-CC020E719A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8211" y="3728969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FF27BB36-F999-7E99-8974-F96CE633BF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0835" y="1854686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连接符: 肘形 149">
            <a:extLst>
              <a:ext uri="{FF2B5EF4-FFF2-40B4-BE49-F238E27FC236}">
                <a16:creationId xmlns:a16="http://schemas.microsoft.com/office/drawing/2014/main" id="{E539829E-4F5E-1908-7C0B-C31C136B98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99281" y="2813102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30090342-D286-11EF-DA50-7A8C0EE5CA2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55281" y="2968056"/>
            <a:ext cx="432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674FB81F-3775-3BE7-0B7C-4F4600C4DE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81281" y="2933577"/>
            <a:ext cx="180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8238974C-5411-A7F0-E993-F629AC585F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00623" y="3609378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1F618E38-AE1D-FBDD-DBF9-69780EC7FD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4623" y="3756932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连接符: 肘形 154">
            <a:extLst>
              <a:ext uri="{FF2B5EF4-FFF2-40B4-BE49-F238E27FC236}">
                <a16:creationId xmlns:a16="http://schemas.microsoft.com/office/drawing/2014/main" id="{4B842C1C-832E-CBB1-875D-62C89ED7A5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00623" y="374785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连接符: 肘形 155">
            <a:extLst>
              <a:ext uri="{FF2B5EF4-FFF2-40B4-BE49-F238E27FC236}">
                <a16:creationId xmlns:a16="http://schemas.microsoft.com/office/drawing/2014/main" id="{E549ECEE-10A7-3429-7733-73910A5249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02738" y="4266398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连接符: 肘形 156">
            <a:extLst>
              <a:ext uri="{FF2B5EF4-FFF2-40B4-BE49-F238E27FC236}">
                <a16:creationId xmlns:a16="http://schemas.microsoft.com/office/drawing/2014/main" id="{661E7461-F481-66D1-9E76-CF63AC010C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6738" y="4426652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C826AAA9-8AD0-9DE6-04AE-AC3AB1193C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02738" y="441757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58">
            <a:extLst>
              <a:ext uri="{FF2B5EF4-FFF2-40B4-BE49-F238E27FC236}">
                <a16:creationId xmlns:a16="http://schemas.microsoft.com/office/drawing/2014/main" id="{BDA659BE-5FF7-538C-26B3-E621D74743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6738" y="4568625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A84003E1-F324-0DCC-7C17-95B70C5FC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923224"/>
              </p:ext>
            </p:extLst>
          </p:nvPr>
        </p:nvGraphicFramePr>
        <p:xfrm>
          <a:off x="3512211" y="4160963"/>
          <a:ext cx="1648800" cy="144000"/>
        </p:xfrm>
        <a:graphic>
          <a:graphicData uri="http://schemas.openxmlformats.org/drawingml/2006/table">
            <a:tbl>
              <a:tblPr/>
              <a:tblGrid>
                <a:gridCol w="1648800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MI&amp;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特殊线体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53917"/>
                  </a:ext>
                </a:extLst>
              </a:tr>
            </a:tbl>
          </a:graphicData>
        </a:graphic>
      </p:graphicFrame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637CFC8A-9861-45FE-62AB-A4CE53DC25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05803" y="508157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54412EC2-424F-EA6A-D6A0-9ACCD0A31A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9803" y="524500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56716A10-2534-8A5E-79EF-251AA8088D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05803" y="5225978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连接符: 肘形 162">
            <a:extLst>
              <a:ext uri="{FF2B5EF4-FFF2-40B4-BE49-F238E27FC236}">
                <a16:creationId xmlns:a16="http://schemas.microsoft.com/office/drawing/2014/main" id="{777602AF-1843-FA68-5317-F137B29D91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9803" y="5520313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连接符: 肘形 163">
            <a:extLst>
              <a:ext uri="{FF2B5EF4-FFF2-40B4-BE49-F238E27FC236}">
                <a16:creationId xmlns:a16="http://schemas.microsoft.com/office/drawing/2014/main" id="{CE586020-BB1A-32C8-DBB9-AF574B7C78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05803" y="5522879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84C43C2B-B3F4-0B92-7B6F-A89F89425A8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67648" y="1641392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94EFA4DB-EEC5-1BCC-7550-130ED1ADCC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648" y="1785771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4BD2456A-35CB-FAE1-890B-30C2A567F7F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67648" y="1783042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DD01758B-AE61-50A5-7FDE-13E1A05B36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648" y="1953265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5196108C-626C-F153-8047-AA59860A67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648" y="208359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连接符: 肘形 178">
            <a:extLst>
              <a:ext uri="{FF2B5EF4-FFF2-40B4-BE49-F238E27FC236}">
                <a16:creationId xmlns:a16="http://schemas.microsoft.com/office/drawing/2014/main" id="{57284629-4FB6-F064-F0E1-D988F51A3E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648" y="2230855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连接符: 肘形 191">
            <a:extLst>
              <a:ext uri="{FF2B5EF4-FFF2-40B4-BE49-F238E27FC236}">
                <a16:creationId xmlns:a16="http://schemas.microsoft.com/office/drawing/2014/main" id="{D854772F-2A21-7FC6-FAB5-AEF898F3BF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66390" y="266734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43671640-8DAE-1550-0668-D50D2D078B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0390" y="2846649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A516D786-35FA-7E73-C7D3-010DF134B1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66390" y="2805820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连接符: 肘形 194">
            <a:extLst>
              <a:ext uri="{FF2B5EF4-FFF2-40B4-BE49-F238E27FC236}">
                <a16:creationId xmlns:a16="http://schemas.microsoft.com/office/drawing/2014/main" id="{F56F1143-053F-27B5-C488-852160E319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0390" y="2982393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54C94C2C-DCE0-90B8-5BF8-EFB2402B36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0390" y="3122250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连接符: 肘形 197">
            <a:extLst>
              <a:ext uri="{FF2B5EF4-FFF2-40B4-BE49-F238E27FC236}">
                <a16:creationId xmlns:a16="http://schemas.microsoft.com/office/drawing/2014/main" id="{C20F5A65-C89B-A6B7-6EAC-AACCE3FF6A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67978" y="3570892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E48D22DD-D7C1-8E31-2B50-508BA6B0D0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978" y="3727971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连接符: 肘形 199">
            <a:extLst>
              <a:ext uri="{FF2B5EF4-FFF2-40B4-BE49-F238E27FC236}">
                <a16:creationId xmlns:a16="http://schemas.microsoft.com/office/drawing/2014/main" id="{33710757-D7A2-D639-6E46-8F0F0BC78F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67978" y="3722067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26C4586B-B1A0-69AB-410D-0C0B1B8EE30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978" y="3879593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连接符: 肘形 201">
            <a:extLst>
              <a:ext uri="{FF2B5EF4-FFF2-40B4-BE49-F238E27FC236}">
                <a16:creationId xmlns:a16="http://schemas.microsoft.com/office/drawing/2014/main" id="{468FFA2E-A098-E26C-F12F-CB199593FA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978" y="401944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连接符: 肘形 202">
            <a:extLst>
              <a:ext uri="{FF2B5EF4-FFF2-40B4-BE49-F238E27FC236}">
                <a16:creationId xmlns:a16="http://schemas.microsoft.com/office/drawing/2014/main" id="{9EB6D9C8-08F1-D763-0ECF-703D4A931D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978" y="4163530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连接符: 肘形 203">
            <a:extLst>
              <a:ext uri="{FF2B5EF4-FFF2-40B4-BE49-F238E27FC236}">
                <a16:creationId xmlns:a16="http://schemas.microsoft.com/office/drawing/2014/main" id="{7414E556-8F0D-1989-64F8-F238A1C4929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1978" y="4295681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连接符: 肘形 204">
            <a:extLst>
              <a:ext uri="{FF2B5EF4-FFF2-40B4-BE49-F238E27FC236}">
                <a16:creationId xmlns:a16="http://schemas.microsoft.com/office/drawing/2014/main" id="{369DB693-ABB0-1840-4BDD-2792478262E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71381" y="5153337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连接符: 肘形 205">
            <a:extLst>
              <a:ext uri="{FF2B5EF4-FFF2-40B4-BE49-F238E27FC236}">
                <a16:creationId xmlns:a16="http://schemas.microsoft.com/office/drawing/2014/main" id="{2C8FE1AF-83DC-C363-8755-5C4BC9DD27F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5381" y="5297716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连接符: 肘形 206">
            <a:extLst>
              <a:ext uri="{FF2B5EF4-FFF2-40B4-BE49-F238E27FC236}">
                <a16:creationId xmlns:a16="http://schemas.microsoft.com/office/drawing/2014/main" id="{1EBBF4D5-D873-D281-511A-E4A28D4506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71381" y="5294987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连接符: 肘形 207">
            <a:extLst>
              <a:ext uri="{FF2B5EF4-FFF2-40B4-BE49-F238E27FC236}">
                <a16:creationId xmlns:a16="http://schemas.microsoft.com/office/drawing/2014/main" id="{6310F185-9CFE-0735-FBC7-2A724092F6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74037" y="5878820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61907EDA-ADBF-2527-5921-0B7747A790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8037" y="606447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连接符: 肘形 209">
            <a:extLst>
              <a:ext uri="{FF2B5EF4-FFF2-40B4-BE49-F238E27FC236}">
                <a16:creationId xmlns:a16="http://schemas.microsoft.com/office/drawing/2014/main" id="{AE83FCFE-7448-132F-1070-F1E96FA01A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74037" y="603846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连接符: 肘形 210">
            <a:extLst>
              <a:ext uri="{FF2B5EF4-FFF2-40B4-BE49-F238E27FC236}">
                <a16:creationId xmlns:a16="http://schemas.microsoft.com/office/drawing/2014/main" id="{87313278-88B8-63B4-045D-E51C090841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8037" y="6222586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7059D37-F3E2-702E-B67C-CEB5FBF4E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327652"/>
              </p:ext>
            </p:extLst>
          </p:nvPr>
        </p:nvGraphicFramePr>
        <p:xfrm>
          <a:off x="5378441" y="1497494"/>
          <a:ext cx="1411976" cy="144000"/>
        </p:xfrm>
        <a:graphic>
          <a:graphicData uri="http://schemas.openxmlformats.org/drawingml/2006/table">
            <a:tbl>
              <a:tblPr/>
              <a:tblGrid>
                <a:gridCol w="1411976">
                  <a:extLst>
                    <a:ext uri="{9D8B030D-6E8A-4147-A177-3AD203B41FA5}">
                      <a16:colId xmlns:a16="http://schemas.microsoft.com/office/drawing/2014/main" val="1161570125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生产过程标准管理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012703"/>
                  </a:ext>
                </a:extLst>
              </a:tr>
            </a:tbl>
          </a:graphicData>
        </a:graphic>
      </p:graphicFrame>
      <p:cxnSp>
        <p:nvCxnSpPr>
          <p:cNvPr id="212" name="连接符: 肘形 211">
            <a:extLst>
              <a:ext uri="{FF2B5EF4-FFF2-40B4-BE49-F238E27FC236}">
                <a16:creationId xmlns:a16="http://schemas.microsoft.com/office/drawing/2014/main" id="{9B9326B7-369D-585B-F4EB-DD4EC21AF02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1139" y="163602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连接符: 肘形 212">
            <a:extLst>
              <a:ext uri="{FF2B5EF4-FFF2-40B4-BE49-F238E27FC236}">
                <a16:creationId xmlns:a16="http://schemas.microsoft.com/office/drawing/2014/main" id="{9795AAE1-B85D-29DE-7755-7E8134AE5B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85139" y="1780405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连接符: 肘形 213">
            <a:extLst>
              <a:ext uri="{FF2B5EF4-FFF2-40B4-BE49-F238E27FC236}">
                <a16:creationId xmlns:a16="http://schemas.microsoft.com/office/drawing/2014/main" id="{5CF3CA99-37D2-C401-3BA9-DF3F36B44BB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1139" y="177767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连接符: 肘形 214">
            <a:extLst>
              <a:ext uri="{FF2B5EF4-FFF2-40B4-BE49-F238E27FC236}">
                <a16:creationId xmlns:a16="http://schemas.microsoft.com/office/drawing/2014/main" id="{F74D538A-4936-259A-3E52-AFFAA235FF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85139" y="1922500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39B5AB32-EDC0-4698-DBE0-D279CA7E046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85139" y="2054950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连接符: 肘形 217">
            <a:extLst>
              <a:ext uri="{FF2B5EF4-FFF2-40B4-BE49-F238E27FC236}">
                <a16:creationId xmlns:a16="http://schemas.microsoft.com/office/drawing/2014/main" id="{136E7495-923E-845B-030F-EF6C53C1EA8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0223" y="253618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连接符: 肘形 218">
            <a:extLst>
              <a:ext uri="{FF2B5EF4-FFF2-40B4-BE49-F238E27FC236}">
                <a16:creationId xmlns:a16="http://schemas.microsoft.com/office/drawing/2014/main" id="{DAF27854-96A9-86E4-5A41-CF69CE59E6C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84223" y="2680564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连接符: 肘形 219">
            <a:extLst>
              <a:ext uri="{FF2B5EF4-FFF2-40B4-BE49-F238E27FC236}">
                <a16:creationId xmlns:a16="http://schemas.microsoft.com/office/drawing/2014/main" id="{3A1388CC-8947-3BB3-EEB4-2CF7E1FC242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0223" y="267783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连接符: 肘形 220">
            <a:extLst>
              <a:ext uri="{FF2B5EF4-FFF2-40B4-BE49-F238E27FC236}">
                <a16:creationId xmlns:a16="http://schemas.microsoft.com/office/drawing/2014/main" id="{21B7196E-0E66-975D-3F09-4425CF2E0B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1526" y="3093638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连接符: 肘形 221">
            <a:extLst>
              <a:ext uri="{FF2B5EF4-FFF2-40B4-BE49-F238E27FC236}">
                <a16:creationId xmlns:a16="http://schemas.microsoft.com/office/drawing/2014/main" id="{BB967A0E-C4A9-0ECC-CEC5-31AB0E022B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85526" y="328881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连接符: 肘形 222">
            <a:extLst>
              <a:ext uri="{FF2B5EF4-FFF2-40B4-BE49-F238E27FC236}">
                <a16:creationId xmlns:a16="http://schemas.microsoft.com/office/drawing/2014/main" id="{7E71C54D-0DB3-E481-F710-7A98AA0E7E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1526" y="325751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连接符: 肘形 223">
            <a:extLst>
              <a:ext uri="{FF2B5EF4-FFF2-40B4-BE49-F238E27FC236}">
                <a16:creationId xmlns:a16="http://schemas.microsoft.com/office/drawing/2014/main" id="{967A6404-8D21-4B81-CBD1-C985E4395F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85526" y="3427736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连接符: 肘形 224">
            <a:extLst>
              <a:ext uri="{FF2B5EF4-FFF2-40B4-BE49-F238E27FC236}">
                <a16:creationId xmlns:a16="http://schemas.microsoft.com/office/drawing/2014/main" id="{3C9D2811-ABDD-C830-A79B-B8C3BC27F6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85526" y="3558068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连接符: 肘形 225">
            <a:extLst>
              <a:ext uri="{FF2B5EF4-FFF2-40B4-BE49-F238E27FC236}">
                <a16:creationId xmlns:a16="http://schemas.microsoft.com/office/drawing/2014/main" id="{55281045-15CE-91D3-AA21-F908E2E4A1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92934" y="3972038"/>
            <a:ext cx="180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连接符: 肘形 226">
            <a:extLst>
              <a:ext uri="{FF2B5EF4-FFF2-40B4-BE49-F238E27FC236}">
                <a16:creationId xmlns:a16="http://schemas.microsoft.com/office/drawing/2014/main" id="{0DAA8F05-A01C-17CF-16AE-C23947A231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94684" y="4111147"/>
            <a:ext cx="180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连接符: 肘形 227">
            <a:extLst>
              <a:ext uri="{FF2B5EF4-FFF2-40B4-BE49-F238E27FC236}">
                <a16:creationId xmlns:a16="http://schemas.microsoft.com/office/drawing/2014/main" id="{0506040D-4D44-2CE5-7401-55C5A108392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29950" y="4829674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连接符: 肘形 228">
            <a:extLst>
              <a:ext uri="{FF2B5EF4-FFF2-40B4-BE49-F238E27FC236}">
                <a16:creationId xmlns:a16="http://schemas.microsoft.com/office/drawing/2014/main" id="{33B17ECA-D298-C393-4B4F-F0B078FE1A2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03950" y="4961356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连接符: 肘形 229">
            <a:extLst>
              <a:ext uri="{FF2B5EF4-FFF2-40B4-BE49-F238E27FC236}">
                <a16:creationId xmlns:a16="http://schemas.microsoft.com/office/drawing/2014/main" id="{22951B31-D783-7252-F596-E1C5530CA4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29950" y="4954394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连接符: 肘形 230">
            <a:extLst>
              <a:ext uri="{FF2B5EF4-FFF2-40B4-BE49-F238E27FC236}">
                <a16:creationId xmlns:a16="http://schemas.microsoft.com/office/drawing/2014/main" id="{DEFC1450-1AC5-4EA6-7C07-9831F3E86D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03950" y="5087715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连接符: 肘形 231">
            <a:extLst>
              <a:ext uri="{FF2B5EF4-FFF2-40B4-BE49-F238E27FC236}">
                <a16:creationId xmlns:a16="http://schemas.microsoft.com/office/drawing/2014/main" id="{FE3DD717-4A87-A378-156B-712A487A917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5076" y="6067460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连接符: 肘形 232">
            <a:extLst>
              <a:ext uri="{FF2B5EF4-FFF2-40B4-BE49-F238E27FC236}">
                <a16:creationId xmlns:a16="http://schemas.microsoft.com/office/drawing/2014/main" id="{6AF249E4-0C2B-D45C-E072-E4FD7C9F5A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09076" y="6227714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连接符: 肘形 233">
            <a:extLst>
              <a:ext uri="{FF2B5EF4-FFF2-40B4-BE49-F238E27FC236}">
                <a16:creationId xmlns:a16="http://schemas.microsoft.com/office/drawing/2014/main" id="{DD0A28DF-322C-C251-33E6-E14993A04D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5076" y="621228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连接符: 肘形 234">
            <a:extLst>
              <a:ext uri="{FF2B5EF4-FFF2-40B4-BE49-F238E27FC236}">
                <a16:creationId xmlns:a16="http://schemas.microsoft.com/office/drawing/2014/main" id="{0CAF735D-7A48-79C3-DC2B-ABCFE69B42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24161" y="557332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连接符: 肘形 236">
            <a:extLst>
              <a:ext uri="{FF2B5EF4-FFF2-40B4-BE49-F238E27FC236}">
                <a16:creationId xmlns:a16="http://schemas.microsoft.com/office/drawing/2014/main" id="{1AC564E4-0AD3-C0EC-0F28-4FF116B4A1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24161" y="571180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连接符: 肘形 237">
            <a:extLst>
              <a:ext uri="{FF2B5EF4-FFF2-40B4-BE49-F238E27FC236}">
                <a16:creationId xmlns:a16="http://schemas.microsoft.com/office/drawing/2014/main" id="{A44881F4-47EE-BF2E-5AE6-D71DE0D9E6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0861" y="166833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连接符: 肘形 238">
            <a:extLst>
              <a:ext uri="{FF2B5EF4-FFF2-40B4-BE49-F238E27FC236}">
                <a16:creationId xmlns:a16="http://schemas.microsoft.com/office/drawing/2014/main" id="{24D8DA5D-E6A0-E262-E7DD-C9AEB7E4A5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0861" y="180998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连接符: 肘形 239">
            <a:extLst>
              <a:ext uri="{FF2B5EF4-FFF2-40B4-BE49-F238E27FC236}">
                <a16:creationId xmlns:a16="http://schemas.microsoft.com/office/drawing/2014/main" id="{DFAF610E-4C36-7E6E-E7F1-0592EA4A17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58371" y="222543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连接符: 肘形 240">
            <a:extLst>
              <a:ext uri="{FF2B5EF4-FFF2-40B4-BE49-F238E27FC236}">
                <a16:creationId xmlns:a16="http://schemas.microsoft.com/office/drawing/2014/main" id="{E5FB9C4B-4C48-7B8C-E523-B5CDD7F4F5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32371" y="2387593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连接符: 肘形 241">
            <a:extLst>
              <a:ext uri="{FF2B5EF4-FFF2-40B4-BE49-F238E27FC236}">
                <a16:creationId xmlns:a16="http://schemas.microsoft.com/office/drawing/2014/main" id="{ADD728D9-8596-0AAA-86E9-9D83F45B3F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58371" y="235523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9F74AC30-9FF6-99C9-B1A7-FEEBE03E09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32371" y="2539352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连接符: 肘形 243">
            <a:extLst>
              <a:ext uri="{FF2B5EF4-FFF2-40B4-BE49-F238E27FC236}">
                <a16:creationId xmlns:a16="http://schemas.microsoft.com/office/drawing/2014/main" id="{2F1A675E-453F-72B5-7B4F-D6FD17F1B0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0106" y="3874170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连接符: 肘形 244">
            <a:extLst>
              <a:ext uri="{FF2B5EF4-FFF2-40B4-BE49-F238E27FC236}">
                <a16:creationId xmlns:a16="http://schemas.microsoft.com/office/drawing/2014/main" id="{E1D4CD02-2AFF-C179-E22B-74C681D8AAC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0106" y="4021532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连接符: 肘形 245">
            <a:extLst>
              <a:ext uri="{FF2B5EF4-FFF2-40B4-BE49-F238E27FC236}">
                <a16:creationId xmlns:a16="http://schemas.microsoft.com/office/drawing/2014/main" id="{7EA5F998-2252-EA5E-0EF4-86824017CA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9827" y="4492202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连接符: 肘形 246">
            <a:extLst>
              <a:ext uri="{FF2B5EF4-FFF2-40B4-BE49-F238E27FC236}">
                <a16:creationId xmlns:a16="http://schemas.microsoft.com/office/drawing/2014/main" id="{7EEC8318-8B1F-CDA0-4343-18DB3F1083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9827" y="4633852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连接符: 肘形 247">
            <a:extLst>
              <a:ext uri="{FF2B5EF4-FFF2-40B4-BE49-F238E27FC236}">
                <a16:creationId xmlns:a16="http://schemas.microsoft.com/office/drawing/2014/main" id="{FA8AF1B9-E9F3-E324-2A13-8AFDDF152F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9475" y="498926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连接符: 肘形 248">
            <a:extLst>
              <a:ext uri="{FF2B5EF4-FFF2-40B4-BE49-F238E27FC236}">
                <a16:creationId xmlns:a16="http://schemas.microsoft.com/office/drawing/2014/main" id="{6CB4EF26-93F3-7FAB-43DC-BA1DCC4124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9475" y="5130915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连接符: 肘形 249">
            <a:extLst>
              <a:ext uri="{FF2B5EF4-FFF2-40B4-BE49-F238E27FC236}">
                <a16:creationId xmlns:a16="http://schemas.microsoft.com/office/drawing/2014/main" id="{9264F9C5-179F-D6FF-7195-BEA424E172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7942" y="5519988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连接符: 肘形 250">
            <a:extLst>
              <a:ext uri="{FF2B5EF4-FFF2-40B4-BE49-F238E27FC236}">
                <a16:creationId xmlns:a16="http://schemas.microsoft.com/office/drawing/2014/main" id="{D06D4AA2-3A4F-4344-9A57-A1292CA2DA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51942" y="5715159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连接符: 肘形 251">
            <a:extLst>
              <a:ext uri="{FF2B5EF4-FFF2-40B4-BE49-F238E27FC236}">
                <a16:creationId xmlns:a16="http://schemas.microsoft.com/office/drawing/2014/main" id="{A3CCDB3F-C55E-6A53-A26A-230A2AD821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7942" y="5678140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连接符: 肘形 252">
            <a:extLst>
              <a:ext uri="{FF2B5EF4-FFF2-40B4-BE49-F238E27FC236}">
                <a16:creationId xmlns:a16="http://schemas.microsoft.com/office/drawing/2014/main" id="{CE353067-D7C9-3CA4-1A55-74046AF5525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51942" y="5880113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连接符: 肘形 253">
            <a:extLst>
              <a:ext uri="{FF2B5EF4-FFF2-40B4-BE49-F238E27FC236}">
                <a16:creationId xmlns:a16="http://schemas.microsoft.com/office/drawing/2014/main" id="{97F9D069-B3E4-93B8-2D88-72B6EA9D26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51942" y="6055530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连接符: 肘形 254">
            <a:extLst>
              <a:ext uri="{FF2B5EF4-FFF2-40B4-BE49-F238E27FC236}">
                <a16:creationId xmlns:a16="http://schemas.microsoft.com/office/drawing/2014/main" id="{65AAB96F-4E9C-82C9-BD8B-E4E65AC738D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51942" y="6209138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连接符: 肘形 257">
            <a:extLst>
              <a:ext uri="{FF2B5EF4-FFF2-40B4-BE49-F238E27FC236}">
                <a16:creationId xmlns:a16="http://schemas.microsoft.com/office/drawing/2014/main" id="{DF12E2FA-3312-07EF-01E5-FDDF6C08C8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90620" y="476261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连接符: 肘形 258">
            <a:extLst>
              <a:ext uri="{FF2B5EF4-FFF2-40B4-BE49-F238E27FC236}">
                <a16:creationId xmlns:a16="http://schemas.microsoft.com/office/drawing/2014/main" id="{6013C3AD-7C78-952B-4326-D52ACD7B34F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90620" y="490553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>
            <a:extLst>
              <a:ext uri="{FF2B5EF4-FFF2-40B4-BE49-F238E27FC236}">
                <a16:creationId xmlns:a16="http://schemas.microsoft.com/office/drawing/2014/main" id="{B292F4C6-7719-4FD2-32F2-8024145D35D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76856" y="166973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连接符: 肘形 260">
            <a:extLst>
              <a:ext uri="{FF2B5EF4-FFF2-40B4-BE49-F238E27FC236}">
                <a16:creationId xmlns:a16="http://schemas.microsoft.com/office/drawing/2014/main" id="{FBF08EBC-4BA7-1A6B-4216-63D95D0CB5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0856" y="1803952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连接符: 肘形 261">
            <a:extLst>
              <a:ext uri="{FF2B5EF4-FFF2-40B4-BE49-F238E27FC236}">
                <a16:creationId xmlns:a16="http://schemas.microsoft.com/office/drawing/2014/main" id="{68FC6ADE-97CC-2C82-7ACD-5CD278CD677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76856" y="180630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连接符: 肘形 262">
            <a:extLst>
              <a:ext uri="{FF2B5EF4-FFF2-40B4-BE49-F238E27FC236}">
                <a16:creationId xmlns:a16="http://schemas.microsoft.com/office/drawing/2014/main" id="{34CE0EBF-5FFA-8276-7BC8-8F448482FE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77202" y="2301042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连接符: 肘形 263">
            <a:extLst>
              <a:ext uri="{FF2B5EF4-FFF2-40B4-BE49-F238E27FC236}">
                <a16:creationId xmlns:a16="http://schemas.microsoft.com/office/drawing/2014/main" id="{31A0487B-A853-C2AA-93B3-991A9C0617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1202" y="2428911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连接符: 肘形 264">
            <a:extLst>
              <a:ext uri="{FF2B5EF4-FFF2-40B4-BE49-F238E27FC236}">
                <a16:creationId xmlns:a16="http://schemas.microsoft.com/office/drawing/2014/main" id="{615E39C2-3424-BF94-AC02-B4109B0EEF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77202" y="2424277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连接符: 肘形 265">
            <a:extLst>
              <a:ext uri="{FF2B5EF4-FFF2-40B4-BE49-F238E27FC236}">
                <a16:creationId xmlns:a16="http://schemas.microsoft.com/office/drawing/2014/main" id="{20B61789-B674-C509-C954-67775E9E30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1202" y="2557036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连接符: 肘形 266">
            <a:extLst>
              <a:ext uri="{FF2B5EF4-FFF2-40B4-BE49-F238E27FC236}">
                <a16:creationId xmlns:a16="http://schemas.microsoft.com/office/drawing/2014/main" id="{5B404937-21DD-199B-79D3-1271B4D760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1202" y="349070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连接符: 肘形 267">
            <a:extLst>
              <a:ext uri="{FF2B5EF4-FFF2-40B4-BE49-F238E27FC236}">
                <a16:creationId xmlns:a16="http://schemas.microsoft.com/office/drawing/2014/main" id="{3BF6DCAE-B17F-20A4-905C-9DA61E57F3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77202" y="2829291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连接符: 肘形 268">
            <a:extLst>
              <a:ext uri="{FF2B5EF4-FFF2-40B4-BE49-F238E27FC236}">
                <a16:creationId xmlns:a16="http://schemas.microsoft.com/office/drawing/2014/main" id="{69F25064-C8E8-6A09-C2EF-4ADB4B384A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79202" y="2884525"/>
            <a:ext cx="540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连接符: 肘形 269">
            <a:extLst>
              <a:ext uri="{FF2B5EF4-FFF2-40B4-BE49-F238E27FC236}">
                <a16:creationId xmlns:a16="http://schemas.microsoft.com/office/drawing/2014/main" id="{5A5E42DC-87B2-C7E1-C15F-49996F5F14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77202" y="2960146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连接符: 肘形 271">
            <a:extLst>
              <a:ext uri="{FF2B5EF4-FFF2-40B4-BE49-F238E27FC236}">
                <a16:creationId xmlns:a16="http://schemas.microsoft.com/office/drawing/2014/main" id="{2BC9D09C-E5E7-64E3-285D-0715C16186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1202" y="3100260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连接符: 肘形 272">
            <a:extLst>
              <a:ext uri="{FF2B5EF4-FFF2-40B4-BE49-F238E27FC236}">
                <a16:creationId xmlns:a16="http://schemas.microsoft.com/office/drawing/2014/main" id="{8FC6F0F5-42D1-90A2-C27C-42D485C067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23202" y="3304104"/>
            <a:ext cx="252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001FD2A1-5AE0-81E0-6429-CB32120D2B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77202" y="3494039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连接符: 肘形 275">
            <a:extLst>
              <a:ext uri="{FF2B5EF4-FFF2-40B4-BE49-F238E27FC236}">
                <a16:creationId xmlns:a16="http://schemas.microsoft.com/office/drawing/2014/main" id="{DB1264E6-C31A-EE69-2DAC-1C6866293EC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87507" y="5544957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连接符: 肘形 276">
            <a:extLst>
              <a:ext uri="{FF2B5EF4-FFF2-40B4-BE49-F238E27FC236}">
                <a16:creationId xmlns:a16="http://schemas.microsoft.com/office/drawing/2014/main" id="{5609C7A3-0036-FC80-22A3-3F5363875A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87507" y="5661209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连接符: 肘形 277">
            <a:extLst>
              <a:ext uri="{FF2B5EF4-FFF2-40B4-BE49-F238E27FC236}">
                <a16:creationId xmlns:a16="http://schemas.microsoft.com/office/drawing/2014/main" id="{EFB5CB33-ADE8-0C1F-1130-FCAAC1158E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05498" y="5994814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连接符: 肘形 278">
            <a:extLst>
              <a:ext uri="{FF2B5EF4-FFF2-40B4-BE49-F238E27FC236}">
                <a16:creationId xmlns:a16="http://schemas.microsoft.com/office/drawing/2014/main" id="{155E722D-C909-B615-05B6-4ECDC02B4E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79498" y="6104906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连接符: 肘形 279">
            <a:extLst>
              <a:ext uri="{FF2B5EF4-FFF2-40B4-BE49-F238E27FC236}">
                <a16:creationId xmlns:a16="http://schemas.microsoft.com/office/drawing/2014/main" id="{112A9FCF-D7A7-CA69-453C-B6B72AE1A6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05498" y="6111278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连接符: 肘形 280">
            <a:extLst>
              <a:ext uri="{FF2B5EF4-FFF2-40B4-BE49-F238E27FC236}">
                <a16:creationId xmlns:a16="http://schemas.microsoft.com/office/drawing/2014/main" id="{3D6E876F-3A30-E61E-3F1B-5A98F4291B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79498" y="624036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9E1D01E-217C-6BAD-573E-5765EA8F0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128934"/>
              </p:ext>
            </p:extLst>
          </p:nvPr>
        </p:nvGraphicFramePr>
        <p:xfrm>
          <a:off x="283016" y="3393295"/>
          <a:ext cx="1404000" cy="184150"/>
        </p:xfrm>
        <a:graphic>
          <a:graphicData uri="http://schemas.openxmlformats.org/drawingml/2006/table">
            <a:tbl>
              <a:tblPr/>
              <a:tblGrid>
                <a:gridCol w="1404000">
                  <a:extLst>
                    <a:ext uri="{9D8B030D-6E8A-4147-A177-3AD203B41FA5}">
                      <a16:colId xmlns:a16="http://schemas.microsoft.com/office/drawing/2014/main" val="246899019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产品标准和检验管理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811580"/>
                  </a:ext>
                </a:extLst>
              </a:tr>
            </a:tbl>
          </a:graphicData>
        </a:graphic>
      </p:graphicFrame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157652F9-DF2E-1FDF-FC7A-D90DCA707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45894"/>
              </p:ext>
            </p:extLst>
          </p:nvPr>
        </p:nvGraphicFramePr>
        <p:xfrm>
          <a:off x="3512211" y="3510777"/>
          <a:ext cx="1648800" cy="144000"/>
        </p:xfrm>
        <a:graphic>
          <a:graphicData uri="http://schemas.openxmlformats.org/drawingml/2006/table">
            <a:tbl>
              <a:tblPr/>
              <a:tblGrid>
                <a:gridCol w="1648800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生产物料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&amp;BOM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84481"/>
                  </a:ext>
                </a:extLst>
              </a:tr>
            </a:tbl>
          </a:graphicData>
        </a:graphic>
      </p:graphicFrame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669BD73F-2C14-1ECD-5FAE-4E00DB37E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058235"/>
              </p:ext>
            </p:extLst>
          </p:nvPr>
        </p:nvGraphicFramePr>
        <p:xfrm>
          <a:off x="3512211" y="4979898"/>
          <a:ext cx="1656000" cy="144000"/>
        </p:xfrm>
        <a:graphic>
          <a:graphicData uri="http://schemas.openxmlformats.org/drawingml/2006/table">
            <a:tbl>
              <a:tblPr/>
              <a:tblGrid>
                <a:gridCol w="1656000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8S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574742"/>
                  </a:ext>
                </a:extLst>
              </a:tr>
            </a:tbl>
          </a:graphicData>
        </a:graphic>
      </p:graphicFrame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D9DACD4E-F857-1511-1B08-980D8698A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26625"/>
              </p:ext>
            </p:extLst>
          </p:nvPr>
        </p:nvGraphicFramePr>
        <p:xfrm>
          <a:off x="5378441" y="2568320"/>
          <a:ext cx="1411200" cy="144000"/>
        </p:xfrm>
        <a:graphic>
          <a:graphicData uri="http://schemas.openxmlformats.org/drawingml/2006/table">
            <a:tbl>
              <a:tblPr/>
              <a:tblGrid>
                <a:gridCol w="1411200">
                  <a:extLst>
                    <a:ext uri="{9D8B030D-6E8A-4147-A177-3AD203B41FA5}">
                      <a16:colId xmlns:a16="http://schemas.microsoft.com/office/drawing/2014/main" val="1161570125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生产异常处理流程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551601"/>
                  </a:ext>
                </a:extLst>
              </a:tr>
            </a:tbl>
          </a:graphicData>
        </a:graphic>
      </p:graphicFrame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9A507F8C-FB62-0F41-D1DB-48BEA1134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381119"/>
              </p:ext>
            </p:extLst>
          </p:nvPr>
        </p:nvGraphicFramePr>
        <p:xfrm>
          <a:off x="5378441" y="3459146"/>
          <a:ext cx="1411200" cy="144000"/>
        </p:xfrm>
        <a:graphic>
          <a:graphicData uri="http://schemas.openxmlformats.org/drawingml/2006/table">
            <a:tbl>
              <a:tblPr/>
              <a:tblGrid>
                <a:gridCol w="1411200">
                  <a:extLst>
                    <a:ext uri="{9D8B030D-6E8A-4147-A177-3AD203B41FA5}">
                      <a16:colId xmlns:a16="http://schemas.microsoft.com/office/drawing/2014/main" val="1161570125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维修管理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574363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FED036D2-83AE-8AAD-5319-DF1452A50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69198"/>
              </p:ext>
            </p:extLst>
          </p:nvPr>
        </p:nvGraphicFramePr>
        <p:xfrm>
          <a:off x="5382762" y="5001963"/>
          <a:ext cx="1411200" cy="144000"/>
        </p:xfrm>
        <a:graphic>
          <a:graphicData uri="http://schemas.openxmlformats.org/drawingml/2006/table">
            <a:tbl>
              <a:tblPr/>
              <a:tblGrid>
                <a:gridCol w="1411200">
                  <a:extLst>
                    <a:ext uri="{9D8B030D-6E8A-4147-A177-3AD203B41FA5}">
                      <a16:colId xmlns:a16="http://schemas.microsoft.com/office/drawing/2014/main" val="2739743725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过程质量绩效管理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25958"/>
                  </a:ext>
                </a:extLst>
              </a:tr>
            </a:tbl>
          </a:graphicData>
        </a:graphic>
      </p:graphicFrame>
      <p:graphicFrame>
        <p:nvGraphicFramePr>
          <p:cNvPr id="80" name="表格 79">
            <a:extLst>
              <a:ext uri="{FF2B5EF4-FFF2-40B4-BE49-F238E27FC236}">
                <a16:creationId xmlns:a16="http://schemas.microsoft.com/office/drawing/2014/main" id="{7FAF3160-A5DE-DC60-CB28-A81D28FD7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794946"/>
              </p:ext>
            </p:extLst>
          </p:nvPr>
        </p:nvGraphicFramePr>
        <p:xfrm>
          <a:off x="5385809" y="5755998"/>
          <a:ext cx="1411200" cy="158750"/>
        </p:xfrm>
        <a:graphic>
          <a:graphicData uri="http://schemas.openxmlformats.org/drawingml/2006/table">
            <a:tbl>
              <a:tblPr/>
              <a:tblGrid>
                <a:gridCol w="1411200">
                  <a:extLst>
                    <a:ext uri="{9D8B030D-6E8A-4147-A177-3AD203B41FA5}">
                      <a16:colId xmlns:a16="http://schemas.microsoft.com/office/drawing/2014/main" val="2739743725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产品质量绩效管理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419184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987348F5-0B19-2F35-CE8A-D2962A0AE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402033"/>
              </p:ext>
            </p:extLst>
          </p:nvPr>
        </p:nvGraphicFramePr>
        <p:xfrm>
          <a:off x="7024368" y="1494504"/>
          <a:ext cx="1458000" cy="144000"/>
        </p:xfrm>
        <a:graphic>
          <a:graphicData uri="http://schemas.openxmlformats.org/drawingml/2006/table">
            <a:tbl>
              <a:tblPr/>
              <a:tblGrid>
                <a:gridCol w="1458000">
                  <a:extLst>
                    <a:ext uri="{9D8B030D-6E8A-4147-A177-3AD203B41FA5}">
                      <a16:colId xmlns:a16="http://schemas.microsoft.com/office/drawing/2014/main" val="417690514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产品检验标准管理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313738"/>
                  </a:ext>
                </a:extLst>
              </a:tr>
            </a:tbl>
          </a:graphicData>
        </a:graphic>
      </p:graphicFrame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C871AC0B-837F-D792-61D2-7B1CBDCF1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175452"/>
              </p:ext>
            </p:extLst>
          </p:nvPr>
        </p:nvGraphicFramePr>
        <p:xfrm>
          <a:off x="7024368" y="2390538"/>
          <a:ext cx="1458000" cy="144000"/>
        </p:xfrm>
        <a:graphic>
          <a:graphicData uri="http://schemas.openxmlformats.org/drawingml/2006/table">
            <a:tbl>
              <a:tblPr/>
              <a:tblGrid>
                <a:gridCol w="1458000">
                  <a:extLst>
                    <a:ext uri="{9D8B030D-6E8A-4147-A177-3AD203B41FA5}">
                      <a16:colId xmlns:a16="http://schemas.microsoft.com/office/drawing/2014/main" val="417690514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产品检验过程管理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541451"/>
                  </a:ext>
                </a:extLst>
              </a:tr>
            </a:tbl>
          </a:graphicData>
        </a:graphic>
      </p:graphicFrame>
      <p:graphicFrame>
        <p:nvGraphicFramePr>
          <p:cNvPr id="85" name="表格 84">
            <a:extLst>
              <a:ext uri="{FF2B5EF4-FFF2-40B4-BE49-F238E27FC236}">
                <a16:creationId xmlns:a16="http://schemas.microsoft.com/office/drawing/2014/main" id="{D447D9F7-ACFF-87CA-B3C9-2A40AA5C5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763414"/>
              </p:ext>
            </p:extLst>
          </p:nvPr>
        </p:nvGraphicFramePr>
        <p:xfrm>
          <a:off x="7024368" y="2998572"/>
          <a:ext cx="1473198" cy="144000"/>
        </p:xfrm>
        <a:graphic>
          <a:graphicData uri="http://schemas.openxmlformats.org/drawingml/2006/table">
            <a:tbl>
              <a:tblPr/>
              <a:tblGrid>
                <a:gridCol w="1473198">
                  <a:extLst>
                    <a:ext uri="{9D8B030D-6E8A-4147-A177-3AD203B41FA5}">
                      <a16:colId xmlns:a16="http://schemas.microsoft.com/office/drawing/2014/main" val="417690514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检验异常管理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706821"/>
                  </a:ext>
                </a:extLst>
              </a:tr>
            </a:tbl>
          </a:graphicData>
        </a:graphic>
      </p:graphicFrame>
      <p:graphicFrame>
        <p:nvGraphicFramePr>
          <p:cNvPr id="81" name="表格 80">
            <a:extLst>
              <a:ext uri="{FF2B5EF4-FFF2-40B4-BE49-F238E27FC236}">
                <a16:creationId xmlns:a16="http://schemas.microsoft.com/office/drawing/2014/main" id="{8FF6EF62-EB12-0C73-47AD-3D2D648BA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614247"/>
              </p:ext>
            </p:extLst>
          </p:nvPr>
        </p:nvGraphicFramePr>
        <p:xfrm>
          <a:off x="7024367" y="3886986"/>
          <a:ext cx="1473199" cy="144000"/>
        </p:xfrm>
        <a:graphic>
          <a:graphicData uri="http://schemas.openxmlformats.org/drawingml/2006/table">
            <a:tbl>
              <a:tblPr/>
              <a:tblGrid>
                <a:gridCol w="1473199">
                  <a:extLst>
                    <a:ext uri="{9D8B030D-6E8A-4147-A177-3AD203B41FA5}">
                      <a16:colId xmlns:a16="http://schemas.microsoft.com/office/drawing/2014/main" val="4176905148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定制化检验管理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062277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E050E49-CD9B-28D2-04FF-FFC8E87A4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164457"/>
              </p:ext>
            </p:extLst>
          </p:nvPr>
        </p:nvGraphicFramePr>
        <p:xfrm>
          <a:off x="7043209" y="4703124"/>
          <a:ext cx="1458000" cy="121920"/>
        </p:xfrm>
        <a:graphic>
          <a:graphicData uri="http://schemas.openxmlformats.org/drawingml/2006/table">
            <a:tbl>
              <a:tblPr/>
              <a:tblGrid>
                <a:gridCol w="1458000">
                  <a:extLst>
                    <a:ext uri="{9D8B030D-6E8A-4147-A177-3AD203B41FA5}">
                      <a16:colId xmlns:a16="http://schemas.microsoft.com/office/drawing/2014/main" val="3802363674"/>
                    </a:ext>
                  </a:extLst>
                </a:gridCol>
              </a:tblGrid>
              <a:tr h="11152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制程变更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设计变更管理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327394"/>
                  </a:ext>
                </a:extLst>
              </a:tr>
            </a:tbl>
          </a:graphicData>
        </a:graphic>
      </p:graphicFrame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2FBAF734-DB42-E36E-92AA-34DA3284A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654908"/>
              </p:ext>
            </p:extLst>
          </p:nvPr>
        </p:nvGraphicFramePr>
        <p:xfrm>
          <a:off x="7047950" y="5950269"/>
          <a:ext cx="1478760" cy="144000"/>
        </p:xfrm>
        <a:graphic>
          <a:graphicData uri="http://schemas.openxmlformats.org/drawingml/2006/table">
            <a:tbl>
              <a:tblPr/>
              <a:tblGrid>
                <a:gridCol w="1478760">
                  <a:extLst>
                    <a:ext uri="{9D8B030D-6E8A-4147-A177-3AD203B41FA5}">
                      <a16:colId xmlns:a16="http://schemas.microsoft.com/office/drawing/2014/main" val="380236367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Global Site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质量管理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36979"/>
                  </a:ext>
                </a:extLst>
              </a:tr>
            </a:tbl>
          </a:graphicData>
        </a:graphic>
      </p:graphicFrame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8A5CCDC5-D2A3-0B8E-8539-622663D2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264627"/>
              </p:ext>
            </p:extLst>
          </p:nvPr>
        </p:nvGraphicFramePr>
        <p:xfrm>
          <a:off x="7037033" y="5460929"/>
          <a:ext cx="1470865" cy="144000"/>
        </p:xfrm>
        <a:graphic>
          <a:graphicData uri="http://schemas.openxmlformats.org/drawingml/2006/table">
            <a:tbl>
              <a:tblPr/>
              <a:tblGrid>
                <a:gridCol w="1470865">
                  <a:extLst>
                    <a:ext uri="{9D8B030D-6E8A-4147-A177-3AD203B41FA5}">
                      <a16:colId xmlns:a16="http://schemas.microsoft.com/office/drawing/2014/main" val="380236367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CR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51146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26199B29-0418-A39A-CA6E-42B9D16FF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792155"/>
              </p:ext>
            </p:extLst>
          </p:nvPr>
        </p:nvGraphicFramePr>
        <p:xfrm>
          <a:off x="8669390" y="1494755"/>
          <a:ext cx="1440000" cy="18415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98634150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NxS 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异步研究新技术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953503"/>
                  </a:ext>
                </a:extLst>
              </a:tr>
            </a:tbl>
          </a:graphicData>
        </a:graphic>
      </p:graphicFrame>
      <p:graphicFrame>
        <p:nvGraphicFramePr>
          <p:cNvPr id="95" name="表格 94">
            <a:extLst>
              <a:ext uri="{FF2B5EF4-FFF2-40B4-BE49-F238E27FC236}">
                <a16:creationId xmlns:a16="http://schemas.microsoft.com/office/drawing/2014/main" id="{9CB2957F-3920-F3DF-FDE2-54412B189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422604"/>
              </p:ext>
            </p:extLst>
          </p:nvPr>
        </p:nvGraphicFramePr>
        <p:xfrm>
          <a:off x="8669390" y="2036438"/>
          <a:ext cx="1440000" cy="1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98634150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KPCS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制程能力提升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063342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96A6B6C0-9869-329C-F465-2F95B26E7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633325"/>
              </p:ext>
            </p:extLst>
          </p:nvPr>
        </p:nvGraphicFramePr>
        <p:xfrm>
          <a:off x="8681481" y="3779174"/>
          <a:ext cx="1440000" cy="136693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3601038460"/>
                    </a:ext>
                  </a:extLst>
                </a:gridCol>
              </a:tblGrid>
              <a:tr h="13669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售后质量处理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984936"/>
                  </a:ext>
                </a:extLst>
              </a:tr>
            </a:tbl>
          </a:graphicData>
        </a:graphic>
      </p:graphicFrame>
      <p:graphicFrame>
        <p:nvGraphicFramePr>
          <p:cNvPr id="98" name="表格 97">
            <a:extLst>
              <a:ext uri="{FF2B5EF4-FFF2-40B4-BE49-F238E27FC236}">
                <a16:creationId xmlns:a16="http://schemas.microsoft.com/office/drawing/2014/main" id="{21859C85-FE2C-00F5-D7AE-61FBD5C25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261006"/>
              </p:ext>
            </p:extLst>
          </p:nvPr>
        </p:nvGraphicFramePr>
        <p:xfrm>
          <a:off x="8681481" y="4396318"/>
          <a:ext cx="1440000" cy="136693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3601038460"/>
                    </a:ext>
                  </a:extLst>
                </a:gridCol>
              </a:tblGrid>
              <a:tr h="136693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质量成本控制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127491"/>
                  </a:ext>
                </a:extLst>
              </a:tr>
            </a:tbl>
          </a:graphicData>
        </a:graphic>
      </p:graphicFrame>
      <p:graphicFrame>
        <p:nvGraphicFramePr>
          <p:cNvPr id="100" name="表格 99">
            <a:extLst>
              <a:ext uri="{FF2B5EF4-FFF2-40B4-BE49-F238E27FC236}">
                <a16:creationId xmlns:a16="http://schemas.microsoft.com/office/drawing/2014/main" id="{1E0EE339-28B7-0BFA-401A-5EB70B064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048842"/>
              </p:ext>
            </p:extLst>
          </p:nvPr>
        </p:nvGraphicFramePr>
        <p:xfrm>
          <a:off x="8681481" y="4894687"/>
          <a:ext cx="1440000" cy="136693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3601038460"/>
                    </a:ext>
                  </a:extLst>
                </a:gridCol>
              </a:tblGrid>
              <a:tr h="13669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QBR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07874"/>
                  </a:ext>
                </a:extLst>
              </a:tr>
            </a:tbl>
          </a:graphicData>
        </a:graphic>
      </p:graphicFrame>
      <p:graphicFrame>
        <p:nvGraphicFramePr>
          <p:cNvPr id="102" name="表格 101">
            <a:extLst>
              <a:ext uri="{FF2B5EF4-FFF2-40B4-BE49-F238E27FC236}">
                <a16:creationId xmlns:a16="http://schemas.microsoft.com/office/drawing/2014/main" id="{8C37C6AC-983E-A666-F886-2E3C2EDE7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997758"/>
              </p:ext>
            </p:extLst>
          </p:nvPr>
        </p:nvGraphicFramePr>
        <p:xfrm>
          <a:off x="8681481" y="5393917"/>
          <a:ext cx="1440000" cy="15277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3601038460"/>
                    </a:ext>
                  </a:extLst>
                </a:gridCol>
              </a:tblGrid>
              <a:tr h="152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Global Network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143368"/>
                  </a:ext>
                </a:extLst>
              </a:tr>
            </a:tbl>
          </a:graphicData>
        </a:graphic>
      </p:graphicFrame>
      <p:graphicFrame>
        <p:nvGraphicFramePr>
          <p:cNvPr id="106" name="表格 105">
            <a:extLst>
              <a:ext uri="{FF2B5EF4-FFF2-40B4-BE49-F238E27FC236}">
                <a16:creationId xmlns:a16="http://schemas.microsoft.com/office/drawing/2014/main" id="{7EDC6134-225A-D192-42F0-AA9B98C9B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368772"/>
              </p:ext>
            </p:extLst>
          </p:nvPr>
        </p:nvGraphicFramePr>
        <p:xfrm>
          <a:off x="10400608" y="4607540"/>
          <a:ext cx="1440000" cy="1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318654235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DL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人才培养管理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50349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58601FA-AC94-9B64-E116-7E05CAC9D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823261"/>
              </p:ext>
            </p:extLst>
          </p:nvPr>
        </p:nvGraphicFramePr>
        <p:xfrm>
          <a:off x="10388693" y="1504178"/>
          <a:ext cx="1440000" cy="1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116090394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质量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KPI 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数字化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65422"/>
                  </a:ext>
                </a:extLst>
              </a:tr>
            </a:tbl>
          </a:graphicData>
        </a:graphic>
      </p:graphicFrame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72441FF7-1E3E-5B5D-5A99-293FB75B8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443203"/>
              </p:ext>
            </p:extLst>
          </p:nvPr>
        </p:nvGraphicFramePr>
        <p:xfrm>
          <a:off x="10388693" y="2153380"/>
          <a:ext cx="1440000" cy="1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116090394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过程管理数字化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833317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AD8C48A7-26DE-ABE5-9EBD-E393E9A8F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259118"/>
              </p:ext>
            </p:extLst>
          </p:nvPr>
        </p:nvGraphicFramePr>
        <p:xfrm>
          <a:off x="10399715" y="5406723"/>
          <a:ext cx="1440000" cy="1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395825311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专案改善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201094"/>
                  </a:ext>
                </a:extLst>
              </a:tr>
            </a:tbl>
          </a:graphicData>
        </a:graphic>
      </p:graphicFrame>
      <p:graphicFrame>
        <p:nvGraphicFramePr>
          <p:cNvPr id="112" name="表格 111">
            <a:extLst>
              <a:ext uri="{FF2B5EF4-FFF2-40B4-BE49-F238E27FC236}">
                <a16:creationId xmlns:a16="http://schemas.microsoft.com/office/drawing/2014/main" id="{242269DD-BDCB-DF7A-93FF-6B897FDB2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233251"/>
              </p:ext>
            </p:extLst>
          </p:nvPr>
        </p:nvGraphicFramePr>
        <p:xfrm>
          <a:off x="10402592" y="5851562"/>
          <a:ext cx="1440000" cy="1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395825311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持续提升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345895"/>
                  </a:ext>
                </a:extLst>
              </a:tr>
            </a:tbl>
          </a:graphicData>
        </a:graphic>
      </p:graphicFrame>
      <p:cxnSp>
        <p:nvCxnSpPr>
          <p:cNvPr id="282" name="连接符: 肘形 281">
            <a:extLst>
              <a:ext uri="{FF2B5EF4-FFF2-40B4-BE49-F238E27FC236}">
                <a16:creationId xmlns:a16="http://schemas.microsoft.com/office/drawing/2014/main" id="{0D6BD65F-2D4E-027C-3F9D-CC413E215483}"/>
              </a:ext>
            </a:extLst>
          </p:cNvPr>
          <p:cNvCxnSpPr>
            <a:cxnSpLocks/>
          </p:cNvCxnSpPr>
          <p:nvPr/>
        </p:nvCxnSpPr>
        <p:spPr>
          <a:xfrm rot="5400000">
            <a:off x="1444598" y="1015727"/>
            <a:ext cx="432000" cy="18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连接符: 肘形 282">
            <a:extLst>
              <a:ext uri="{FF2B5EF4-FFF2-40B4-BE49-F238E27FC236}">
                <a16:creationId xmlns:a16="http://schemas.microsoft.com/office/drawing/2014/main" id="{9079D7B9-A529-1A60-75A7-BAEBC9C22D62}"/>
              </a:ext>
            </a:extLst>
          </p:cNvPr>
          <p:cNvCxnSpPr>
            <a:cxnSpLocks/>
          </p:cNvCxnSpPr>
          <p:nvPr/>
        </p:nvCxnSpPr>
        <p:spPr>
          <a:xfrm rot="5400000">
            <a:off x="545095" y="2034686"/>
            <a:ext cx="2268000" cy="144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连接符: 肘形 283">
            <a:extLst>
              <a:ext uri="{FF2B5EF4-FFF2-40B4-BE49-F238E27FC236}">
                <a16:creationId xmlns:a16="http://schemas.microsoft.com/office/drawing/2014/main" id="{C1024029-0774-BB54-8CEC-0BDA312C90D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22689" y="1054365"/>
            <a:ext cx="396000" cy="144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连接符: 肘形 285">
            <a:extLst>
              <a:ext uri="{FF2B5EF4-FFF2-40B4-BE49-F238E27FC236}">
                <a16:creationId xmlns:a16="http://schemas.microsoft.com/office/drawing/2014/main" id="{878532B3-3DCF-E65A-D65C-9C8C53F19E8D}"/>
              </a:ext>
            </a:extLst>
          </p:cNvPr>
          <p:cNvCxnSpPr>
            <a:cxnSpLocks/>
            <a:stCxn id="35" idx="2"/>
            <a:endCxn id="12" idx="1"/>
          </p:cNvCxnSpPr>
          <p:nvPr/>
        </p:nvCxnSpPr>
        <p:spPr>
          <a:xfrm rot="5400000">
            <a:off x="4591064" y="-24078"/>
            <a:ext cx="268147" cy="2430492"/>
          </a:xfrm>
          <a:prstGeom prst="bentConnector4">
            <a:avLst>
              <a:gd name="adj1" fmla="val 23149"/>
              <a:gd name="adj2" fmla="val 10418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连接符: 肘形 286">
            <a:extLst>
              <a:ext uri="{FF2B5EF4-FFF2-40B4-BE49-F238E27FC236}">
                <a16:creationId xmlns:a16="http://schemas.microsoft.com/office/drawing/2014/main" id="{49F44946-F18F-17C8-D131-3162B7C03A7B}"/>
              </a:ext>
            </a:extLst>
          </p:cNvPr>
          <p:cNvCxnSpPr>
            <a:cxnSpLocks/>
          </p:cNvCxnSpPr>
          <p:nvPr/>
        </p:nvCxnSpPr>
        <p:spPr>
          <a:xfrm rot="5400000">
            <a:off x="3773167" y="2645387"/>
            <a:ext cx="3798008" cy="553689"/>
          </a:xfrm>
          <a:prstGeom prst="bentConnector4">
            <a:avLst>
              <a:gd name="adj1" fmla="val 2507"/>
              <a:gd name="adj2" fmla="val 13058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连接符: 肘形 287">
            <a:extLst>
              <a:ext uri="{FF2B5EF4-FFF2-40B4-BE49-F238E27FC236}">
                <a16:creationId xmlns:a16="http://schemas.microsoft.com/office/drawing/2014/main" id="{9FE2055C-F558-88AD-A341-EFDB47654A64}"/>
              </a:ext>
            </a:extLst>
          </p:cNvPr>
          <p:cNvCxnSpPr>
            <a:cxnSpLocks/>
          </p:cNvCxnSpPr>
          <p:nvPr/>
        </p:nvCxnSpPr>
        <p:spPr>
          <a:xfrm rot="5400000">
            <a:off x="5512697" y="909502"/>
            <a:ext cx="318949" cy="546398"/>
          </a:xfrm>
          <a:prstGeom prst="bentConnector4">
            <a:avLst>
              <a:gd name="adj1" fmla="val 30550"/>
              <a:gd name="adj2" fmla="val 13151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连接符: 肘形 288">
            <a:extLst>
              <a:ext uri="{FF2B5EF4-FFF2-40B4-BE49-F238E27FC236}">
                <a16:creationId xmlns:a16="http://schemas.microsoft.com/office/drawing/2014/main" id="{B90A60B8-712B-0055-1DB2-9306D6A7970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54818" y="2220227"/>
            <a:ext cx="3492000" cy="1098000"/>
          </a:xfrm>
          <a:prstGeom prst="bentConnector4">
            <a:avLst>
              <a:gd name="adj1" fmla="val 2761"/>
              <a:gd name="adj2" fmla="val 7963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连接符: 肘形 289">
            <a:extLst>
              <a:ext uri="{FF2B5EF4-FFF2-40B4-BE49-F238E27FC236}">
                <a16:creationId xmlns:a16="http://schemas.microsoft.com/office/drawing/2014/main" id="{241B2F2A-DE7E-54A2-E471-414EB461DD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87994" y="673770"/>
            <a:ext cx="216000" cy="1094400"/>
          </a:xfrm>
          <a:prstGeom prst="bentConnector4">
            <a:avLst>
              <a:gd name="adj1" fmla="val 4515"/>
              <a:gd name="adj2" fmla="val 8021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D55A5D2A-9F80-4FD1-5E5E-D639FE791070}"/>
              </a:ext>
            </a:extLst>
          </p:cNvPr>
          <p:cNvSpPr/>
          <p:nvPr/>
        </p:nvSpPr>
        <p:spPr>
          <a:xfrm>
            <a:off x="276311" y="715933"/>
            <a:ext cx="2872972" cy="34116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产品设计过程质量控制精细化管理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E542E4-E343-13BF-1944-EDAFBD367A51}"/>
              </a:ext>
            </a:extLst>
          </p:cNvPr>
          <p:cNvSpPr/>
          <p:nvPr/>
        </p:nvSpPr>
        <p:spPr>
          <a:xfrm>
            <a:off x="3509891" y="715933"/>
            <a:ext cx="4860983" cy="34116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生产过程质量控制精细化管理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F9C9791-1977-0771-CDAD-A53A64584186}"/>
              </a:ext>
            </a:extLst>
          </p:cNvPr>
          <p:cNvSpPr/>
          <p:nvPr/>
        </p:nvSpPr>
        <p:spPr>
          <a:xfrm>
            <a:off x="8694429" y="711086"/>
            <a:ext cx="3021311" cy="34116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质量改善控制精细化管理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10DAD3-707C-0095-B81D-6F80BC4F7EA0}"/>
              </a:ext>
            </a:extLst>
          </p:cNvPr>
          <p:cNvSpPr/>
          <p:nvPr/>
        </p:nvSpPr>
        <p:spPr>
          <a:xfrm>
            <a:off x="276310" y="1181242"/>
            <a:ext cx="1296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产品策划质量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控制管理</a:t>
            </a: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FF10C2BB-0BFB-26D6-6A5A-4E779BDA0A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9803" y="5667269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8CFE45B-853F-C237-0425-B88AE22ED2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79840" y="6171230"/>
            <a:ext cx="180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1E74DAB-B3D3-2E89-5866-75122F80202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79840" y="6289597"/>
            <a:ext cx="180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94C751BF-F0A8-CAA1-5E7E-C355881DC4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01297" y="5279197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1A47EE0E-BA96-CC2A-7C0B-3B5FAEB1052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75297" y="538758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B4715472-2A97-156C-428F-5268EC5DAEA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01297" y="540179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483648BB-7E64-7C52-CC41-3541D4DA9EAB}"/>
              </a:ext>
            </a:extLst>
          </p:cNvPr>
          <p:cNvSpPr/>
          <p:nvPr/>
        </p:nvSpPr>
        <p:spPr>
          <a:xfrm>
            <a:off x="1709431" y="4910702"/>
            <a:ext cx="1548000" cy="25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生产过程稽核管理</a:t>
            </a:r>
          </a:p>
        </p:txBody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A88093E2-D55A-E2C3-F840-EE91A0411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353089"/>
              </p:ext>
            </p:extLst>
          </p:nvPr>
        </p:nvGraphicFramePr>
        <p:xfrm>
          <a:off x="1709431" y="5190819"/>
          <a:ext cx="1648800" cy="144000"/>
        </p:xfrm>
        <a:graphic>
          <a:graphicData uri="http://schemas.openxmlformats.org/drawingml/2006/table">
            <a:tbl>
              <a:tblPr/>
              <a:tblGrid>
                <a:gridCol w="1648800">
                  <a:extLst>
                    <a:ext uri="{9D8B030D-6E8A-4147-A177-3AD203B41FA5}">
                      <a16:colId xmlns:a16="http://schemas.microsoft.com/office/drawing/2014/main" val="34766951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现场稽核管理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338191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A5CAFF9F-502C-2E44-B031-420F36C4B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415324"/>
              </p:ext>
            </p:extLst>
          </p:nvPr>
        </p:nvGraphicFramePr>
        <p:xfrm>
          <a:off x="1709431" y="6094559"/>
          <a:ext cx="1648800" cy="144000"/>
        </p:xfrm>
        <a:graphic>
          <a:graphicData uri="http://schemas.openxmlformats.org/drawingml/2006/table">
            <a:tbl>
              <a:tblPr/>
              <a:tblGrid>
                <a:gridCol w="1648800">
                  <a:extLst>
                    <a:ext uri="{9D8B030D-6E8A-4147-A177-3AD203B41FA5}">
                      <a16:colId xmlns:a16="http://schemas.microsoft.com/office/drawing/2014/main" val="34766951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Audit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升级管理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67911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9FA701A5-F312-41B0-60A5-2E690DBD7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451652"/>
              </p:ext>
            </p:extLst>
          </p:nvPr>
        </p:nvGraphicFramePr>
        <p:xfrm>
          <a:off x="1823583" y="5349543"/>
          <a:ext cx="1534648" cy="720000"/>
        </p:xfrm>
        <a:graphic>
          <a:graphicData uri="http://schemas.openxmlformats.org/drawingml/2006/table">
            <a:tbl>
              <a:tblPr/>
              <a:tblGrid>
                <a:gridCol w="1534648">
                  <a:extLst>
                    <a:ext uri="{9D8B030D-6E8A-4147-A177-3AD203B41FA5}">
                      <a16:colId xmlns:a16="http://schemas.microsoft.com/office/drawing/2014/main" val="34766951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Audit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稽核管理规范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06113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Audit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异常处理流程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785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称重维护管理规范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62161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产线对料管理规范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05492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过程稽核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C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heck List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标准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133006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1973A760-F85C-4CFB-3E09-01640433E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71329"/>
              </p:ext>
            </p:extLst>
          </p:nvPr>
        </p:nvGraphicFramePr>
        <p:xfrm>
          <a:off x="1827104" y="6254080"/>
          <a:ext cx="1531127" cy="288000"/>
        </p:xfrm>
        <a:graphic>
          <a:graphicData uri="http://schemas.openxmlformats.org/drawingml/2006/table">
            <a:tbl>
              <a:tblPr/>
              <a:tblGrid>
                <a:gridCol w="1531127">
                  <a:extLst>
                    <a:ext uri="{9D8B030D-6E8A-4147-A177-3AD203B41FA5}">
                      <a16:colId xmlns:a16="http://schemas.microsoft.com/office/drawing/2014/main" val="34766951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天条升级流程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75330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稽核惩处升级流程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12013"/>
                  </a:ext>
                </a:extLst>
              </a:tr>
            </a:tbl>
          </a:graphicData>
        </a:graphic>
      </p:graphicFrame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D8EB03AC-A9A2-BA78-0486-5F4F8B6685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75297" y="5471611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48E0B04E-4C30-5C2F-2708-2DAB50968DB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75297" y="5593147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连接符: 肘形 112">
            <a:extLst>
              <a:ext uri="{FF2B5EF4-FFF2-40B4-BE49-F238E27FC236}">
                <a16:creationId xmlns:a16="http://schemas.microsoft.com/office/drawing/2014/main" id="{68B8EAFE-F41E-62AF-0B3A-0FF9072C7078}"/>
              </a:ext>
            </a:extLst>
          </p:cNvPr>
          <p:cNvCxnSpPr>
            <a:cxnSpLocks/>
          </p:cNvCxnSpPr>
          <p:nvPr/>
        </p:nvCxnSpPr>
        <p:spPr>
          <a:xfrm rot="5400000">
            <a:off x="1373044" y="3011955"/>
            <a:ext cx="3924000" cy="144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连接符: 肘形 181">
            <a:extLst>
              <a:ext uri="{FF2B5EF4-FFF2-40B4-BE49-F238E27FC236}">
                <a16:creationId xmlns:a16="http://schemas.microsoft.com/office/drawing/2014/main" id="{C7BD5A28-E31A-80DC-AA5F-6EB66E5117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55240" y="3085070"/>
            <a:ext cx="432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7" name="表格 186">
            <a:extLst>
              <a:ext uri="{FF2B5EF4-FFF2-40B4-BE49-F238E27FC236}">
                <a16:creationId xmlns:a16="http://schemas.microsoft.com/office/drawing/2014/main" id="{F4224A94-6D81-31A1-F214-F164B8848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86134"/>
              </p:ext>
            </p:extLst>
          </p:nvPr>
        </p:nvGraphicFramePr>
        <p:xfrm>
          <a:off x="8792788" y="3097623"/>
          <a:ext cx="1331999" cy="316800"/>
        </p:xfrm>
        <a:graphic>
          <a:graphicData uri="http://schemas.openxmlformats.org/drawingml/2006/table">
            <a:tbl>
              <a:tblPr/>
              <a:tblGrid>
                <a:gridCol w="1331999">
                  <a:extLst>
                    <a:ext uri="{9D8B030D-6E8A-4147-A177-3AD203B41FA5}">
                      <a16:colId xmlns:a16="http://schemas.microsoft.com/office/drawing/2014/main" val="2986341504"/>
                    </a:ext>
                  </a:extLst>
                </a:gridCol>
              </a:tblGrid>
              <a:tr h="1584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生产流程标准化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2469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制程体系标准化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330357"/>
                  </a:ext>
                </a:extLst>
              </a:tr>
            </a:tbl>
          </a:graphicData>
        </a:graphic>
      </p:graphicFrame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EE59BA33-334F-0117-CF13-F540E2E4289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5352" y="306382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连接符: 肘形 189">
            <a:extLst>
              <a:ext uri="{FF2B5EF4-FFF2-40B4-BE49-F238E27FC236}">
                <a16:creationId xmlns:a16="http://schemas.microsoft.com/office/drawing/2014/main" id="{BF20A0F4-581C-A41A-222D-7AF9504DD2F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5352" y="3198703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7" name="表格 196">
            <a:extLst>
              <a:ext uri="{FF2B5EF4-FFF2-40B4-BE49-F238E27FC236}">
                <a16:creationId xmlns:a16="http://schemas.microsoft.com/office/drawing/2014/main" id="{0117446C-3D25-551C-F189-256FC0680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02339"/>
              </p:ext>
            </p:extLst>
          </p:nvPr>
        </p:nvGraphicFramePr>
        <p:xfrm>
          <a:off x="8676371" y="2907850"/>
          <a:ext cx="1440000" cy="18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98634150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PCSS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制造流程标准化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063342"/>
                  </a:ext>
                </a:extLst>
              </a:tr>
            </a:tbl>
          </a:graphicData>
        </a:graphic>
      </p:graphicFrame>
      <p:cxnSp>
        <p:nvCxnSpPr>
          <p:cNvPr id="291" name="连接符: 肘形 290">
            <a:extLst>
              <a:ext uri="{FF2B5EF4-FFF2-40B4-BE49-F238E27FC236}">
                <a16:creationId xmlns:a16="http://schemas.microsoft.com/office/drawing/2014/main" id="{7A9CAE29-4205-7C85-C6D1-1FCA799F67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0106" y="4147374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76E83928-F618-FFD5-0E1A-A8BA29D3F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773443"/>
              </p:ext>
            </p:extLst>
          </p:nvPr>
        </p:nvGraphicFramePr>
        <p:xfrm>
          <a:off x="3639616" y="6248111"/>
          <a:ext cx="1527044" cy="302400"/>
        </p:xfrm>
        <a:graphic>
          <a:graphicData uri="http://schemas.openxmlformats.org/drawingml/2006/table">
            <a:tbl>
              <a:tblPr/>
              <a:tblGrid>
                <a:gridCol w="1527044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IMG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工作职责说明书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626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TQM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部门工作职责说明书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D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989591"/>
                  </a:ext>
                </a:extLst>
              </a:tr>
            </a:tbl>
          </a:graphicData>
        </a:graphic>
      </p:graphicFrame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40CC1B1F-4095-5494-8F97-6A84113E98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12560" y="6198230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25AECCA5-EC1E-AE14-4BF3-125B25897F0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12560" y="6328874"/>
            <a:ext cx="144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2A5CBEC1-2FC7-636C-2E1F-3174BBD38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129789"/>
              </p:ext>
            </p:extLst>
          </p:nvPr>
        </p:nvGraphicFramePr>
        <p:xfrm>
          <a:off x="3506268" y="6082796"/>
          <a:ext cx="1656000" cy="144000"/>
        </p:xfrm>
        <a:graphic>
          <a:graphicData uri="http://schemas.openxmlformats.org/drawingml/2006/table">
            <a:tbl>
              <a:tblPr/>
              <a:tblGrid>
                <a:gridCol w="1656000">
                  <a:extLst>
                    <a:ext uri="{9D8B030D-6E8A-4147-A177-3AD203B41FA5}">
                      <a16:colId xmlns:a16="http://schemas.microsoft.com/office/drawing/2014/main" val="426027944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工作职责说明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574742"/>
                  </a:ext>
                </a:extLst>
              </a:tr>
            </a:tbl>
          </a:graphicData>
        </a:graphic>
      </p:graphicFrame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C6E73E0B-DE6A-E685-675D-4308411874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75297" y="5743064"/>
            <a:ext cx="396000" cy="108000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连接符: 肘形 133">
            <a:extLst>
              <a:ext uri="{FF2B5EF4-FFF2-40B4-BE49-F238E27FC236}">
                <a16:creationId xmlns:a16="http://schemas.microsoft.com/office/drawing/2014/main" id="{D0617CA2-A97C-E83C-B20E-FC7D40E65CAE}"/>
              </a:ext>
            </a:extLst>
          </p:cNvPr>
          <p:cNvCxnSpPr>
            <a:cxnSpLocks/>
            <a:stCxn id="2" idx="2"/>
            <a:endCxn id="34" idx="0"/>
          </p:cNvCxnSpPr>
          <p:nvPr/>
        </p:nvCxnSpPr>
        <p:spPr>
          <a:xfrm rot="5400000">
            <a:off x="3716286" y="-1510891"/>
            <a:ext cx="223335" cy="42303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连接符: 肘形 136">
            <a:extLst>
              <a:ext uri="{FF2B5EF4-FFF2-40B4-BE49-F238E27FC236}">
                <a16:creationId xmlns:a16="http://schemas.microsoft.com/office/drawing/2014/main" id="{BE6B03BC-39A5-6C00-95A7-3DFFC778A211}"/>
              </a:ext>
            </a:extLst>
          </p:cNvPr>
          <p:cNvCxnSpPr>
            <a:cxnSpLocks/>
            <a:stCxn id="2" idx="2"/>
            <a:endCxn id="50" idx="0"/>
          </p:cNvCxnSpPr>
          <p:nvPr/>
        </p:nvCxnSpPr>
        <p:spPr>
          <a:xfrm rot="16200000" flipH="1">
            <a:off x="7964853" y="-1529146"/>
            <a:ext cx="218488" cy="42619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4A55179A-A39D-B5AE-BCCC-F66444CCD85C}"/>
              </a:ext>
            </a:extLst>
          </p:cNvPr>
          <p:cNvCxnSpPr>
            <a:cxnSpLocks/>
            <a:stCxn id="2" idx="2"/>
            <a:endCxn id="35" idx="0"/>
          </p:cNvCxnSpPr>
          <p:nvPr/>
        </p:nvCxnSpPr>
        <p:spPr>
          <a:xfrm rot="5400000">
            <a:off x="5830079" y="602902"/>
            <a:ext cx="223335" cy="272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2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19AA-63FB-B66E-5895-97B80847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片 73">
            <a:extLst>
              <a:ext uri="{FF2B5EF4-FFF2-40B4-BE49-F238E27FC236}">
                <a16:creationId xmlns:a16="http://schemas.microsoft.com/office/drawing/2014/main" id="{F8CB5376-F505-61F8-78D4-C97BFEBB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63"/>
          <a:stretch/>
        </p:blipFill>
        <p:spPr>
          <a:xfrm>
            <a:off x="6765925" y="1181840"/>
            <a:ext cx="10172175" cy="249810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5" name="矩形 74">
            <a:extLst>
              <a:ext uri="{FF2B5EF4-FFF2-40B4-BE49-F238E27FC236}">
                <a16:creationId xmlns:a16="http://schemas.microsoft.com/office/drawing/2014/main" id="{44454EAC-4DC5-0E40-FD6D-449A8C769AE2}"/>
              </a:ext>
            </a:extLst>
          </p:cNvPr>
          <p:cNvSpPr/>
          <p:nvPr/>
        </p:nvSpPr>
        <p:spPr>
          <a:xfrm>
            <a:off x="87086" y="1008743"/>
            <a:ext cx="5925443" cy="5392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F381DA0-A3B8-C5A5-4D76-77987A5753C3}"/>
              </a:ext>
            </a:extLst>
          </p:cNvPr>
          <p:cNvSpPr/>
          <p:nvPr/>
        </p:nvSpPr>
        <p:spPr>
          <a:xfrm>
            <a:off x="9694155" y="1167441"/>
            <a:ext cx="2163412" cy="25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3CFAFB0-B7DA-8B92-8D8B-88E0F7808D2B}"/>
              </a:ext>
            </a:extLst>
          </p:cNvPr>
          <p:cNvSpPr/>
          <p:nvPr/>
        </p:nvSpPr>
        <p:spPr>
          <a:xfrm>
            <a:off x="6012529" y="1159210"/>
            <a:ext cx="722684" cy="25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/>
              <a:t>知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识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库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B8DF2FD-5B79-4D1E-D837-4D7E6FD1079D}"/>
              </a:ext>
            </a:extLst>
          </p:cNvPr>
          <p:cNvSpPr/>
          <p:nvPr/>
        </p:nvSpPr>
        <p:spPr>
          <a:xfrm>
            <a:off x="1105040" y="1159937"/>
            <a:ext cx="4808579" cy="2520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D2D01F6-C7CB-DA68-A3B8-72994A79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83" y="216797"/>
            <a:ext cx="11076268" cy="521208"/>
          </a:xfrm>
          <a:prstGeom prst="rect">
            <a:avLst/>
          </a:prstGeom>
        </p:spPr>
        <p:txBody>
          <a:bodyPr/>
          <a:lstStyle/>
          <a:p>
            <a:r>
              <a:rPr lang="en-US" altLang="zh-CN" b="1" dirty="0"/>
              <a:t>Mainline#3: </a:t>
            </a:r>
            <a:r>
              <a:rPr lang="en-US" altLang="zh-CN" sz="3200" b="1" dirty="0">
                <a:latin typeface="+mn-lt"/>
                <a:cs typeface="+mn-ea"/>
                <a:sym typeface="+mn-lt"/>
              </a:rPr>
              <a:t>MQMS 2.0 Key Activity Execution </a:t>
            </a:r>
            <a:endParaRPr lang="zh-CN" altLang="en-US" sz="3200" dirty="0">
              <a:latin typeface="+mn-lt"/>
              <a:cs typeface="+mn-ea"/>
              <a:sym typeface="+mn-lt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22D8D8E-EFA9-BBC4-AE30-E3079FEF3888}"/>
              </a:ext>
            </a:extLst>
          </p:cNvPr>
          <p:cNvSpPr/>
          <p:nvPr/>
        </p:nvSpPr>
        <p:spPr>
          <a:xfrm>
            <a:off x="334433" y="1159937"/>
            <a:ext cx="722684" cy="25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/>
              <a:t>文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件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升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级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9B7CE06-9048-319A-C98E-D7C2ED7ACAEF}"/>
              </a:ext>
            </a:extLst>
          </p:cNvPr>
          <p:cNvSpPr/>
          <p:nvPr/>
        </p:nvSpPr>
        <p:spPr>
          <a:xfrm>
            <a:off x="1097267" y="3775997"/>
            <a:ext cx="4808857" cy="2520000"/>
          </a:xfrm>
          <a:prstGeom prst="rect">
            <a:avLst/>
          </a:prstGeom>
          <a:solidFill>
            <a:schemeClr val="accent5">
              <a:lumMod val="20000"/>
              <a:lumOff val="8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D1B9C50-3756-80C6-DE86-C7F36BF273E9}"/>
              </a:ext>
            </a:extLst>
          </p:cNvPr>
          <p:cNvSpPr/>
          <p:nvPr/>
        </p:nvSpPr>
        <p:spPr>
          <a:xfrm>
            <a:off x="343872" y="3767684"/>
            <a:ext cx="722684" cy="252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/>
              <a:t>数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字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化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看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板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6F9A270-92B5-6FD9-50D8-B01C927354ED}"/>
              </a:ext>
            </a:extLst>
          </p:cNvPr>
          <p:cNvSpPr/>
          <p:nvPr/>
        </p:nvSpPr>
        <p:spPr>
          <a:xfrm>
            <a:off x="6765925" y="3761198"/>
            <a:ext cx="5091642" cy="2520000"/>
          </a:xfrm>
          <a:prstGeom prst="rect">
            <a:avLst/>
          </a:prstGeom>
          <a:solidFill>
            <a:schemeClr val="accent5">
              <a:lumMod val="20000"/>
              <a:lumOff val="8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Arial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C77E628-769D-474D-5437-CAE511FF85F6}"/>
              </a:ext>
            </a:extLst>
          </p:cNvPr>
          <p:cNvSpPr/>
          <p:nvPr/>
        </p:nvSpPr>
        <p:spPr>
          <a:xfrm>
            <a:off x="6012529" y="3761864"/>
            <a:ext cx="722684" cy="252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/>
              <a:t>数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字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化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系</a:t>
            </a:r>
            <a:endParaRPr lang="en-US" altLang="zh-CN" sz="1800" b="1" dirty="0"/>
          </a:p>
          <a:p>
            <a:pPr algn="ctr"/>
            <a:r>
              <a:rPr lang="zh-CN" altLang="en-US" sz="1800" b="1" dirty="0"/>
              <a:t>统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6E208D7-2E4E-0F2D-29F4-B056E3A3D95F}"/>
              </a:ext>
            </a:extLst>
          </p:cNvPr>
          <p:cNvSpPr/>
          <p:nvPr/>
        </p:nvSpPr>
        <p:spPr>
          <a:xfrm>
            <a:off x="11861432" y="1144794"/>
            <a:ext cx="330568" cy="26312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478893-25BB-EE85-C6F9-94F83860B833}"/>
              </a:ext>
            </a:extLst>
          </p:cNvPr>
          <p:cNvSpPr txBox="1"/>
          <p:nvPr/>
        </p:nvSpPr>
        <p:spPr>
          <a:xfrm>
            <a:off x="4014549" y="1269189"/>
            <a:ext cx="2262561" cy="1304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cs typeface="+mn-ea"/>
                <a:sym typeface="+mn-lt"/>
              </a:rPr>
              <a:t>50</a:t>
            </a:r>
            <a:r>
              <a:rPr lang="zh-CN" altLang="en-US" sz="1200" b="1" dirty="0">
                <a:cs typeface="+mn-ea"/>
                <a:sym typeface="+mn-lt"/>
              </a:rPr>
              <a:t>份体系文件升级</a:t>
            </a:r>
            <a:endParaRPr lang="en-US" altLang="zh-CN" sz="1200" b="1" dirty="0"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产品质量保证</a:t>
            </a:r>
            <a:r>
              <a:rPr lang="en-US" altLang="zh-CN" sz="1000" dirty="0">
                <a:cs typeface="+mn-ea"/>
                <a:sym typeface="+mn-lt"/>
              </a:rPr>
              <a:t>*6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过程质量保证</a:t>
            </a:r>
            <a:r>
              <a:rPr lang="en-US" altLang="zh-CN" sz="1000" dirty="0">
                <a:cs typeface="+mn-ea"/>
                <a:sym typeface="+mn-lt"/>
              </a:rPr>
              <a:t>*36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质量改善</a:t>
            </a:r>
            <a:r>
              <a:rPr lang="en-US" altLang="zh-CN" sz="1000" dirty="0">
                <a:cs typeface="+mn-ea"/>
                <a:sym typeface="+mn-lt"/>
              </a:rPr>
              <a:t>*8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200" b="1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F8A061-DBB5-6BE0-0A95-BB09D15EA41F}"/>
              </a:ext>
            </a:extLst>
          </p:cNvPr>
          <p:cNvSpPr txBox="1"/>
          <p:nvPr/>
        </p:nvSpPr>
        <p:spPr>
          <a:xfrm>
            <a:off x="3986639" y="3789189"/>
            <a:ext cx="1846486" cy="2148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/>
                </a:solidFill>
                <a:cs typeface="+mn-ea"/>
                <a:sym typeface="+mn-lt"/>
              </a:rPr>
              <a:t>9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lt"/>
              </a:rPr>
              <a:t>项</a:t>
            </a:r>
            <a:r>
              <a:rPr lang="en-US" altLang="zh-CN" sz="1200" b="1" dirty="0">
                <a:solidFill>
                  <a:schemeClr val="tx1"/>
                </a:solidFill>
                <a:cs typeface="+mn-ea"/>
                <a:sym typeface="+mn-lt"/>
              </a:rPr>
              <a:t>Power BI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lt"/>
              </a:rPr>
              <a:t>的看板开发</a:t>
            </a:r>
            <a:endParaRPr lang="en-US" altLang="zh-CN" sz="1200" b="1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MQC OOB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8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OBE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700" dirty="0">
              <a:solidFill>
                <a:srgbClr val="00B050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tx1"/>
                </a:solidFill>
                <a:cs typeface="+mn-ea"/>
                <a:sym typeface="+mn-lt"/>
              </a:rPr>
              <a:t>MWDC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solidFill>
                <a:schemeClr val="tx1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tx1"/>
                </a:solidFill>
                <a:cs typeface="+mn-ea"/>
                <a:sym typeface="+mn-lt"/>
              </a:rPr>
              <a:t>QBR</a:t>
            </a:r>
            <a:r>
              <a:rPr lang="en-US" altLang="zh-CN" sz="1000" dirty="0">
                <a:cs typeface="+mn-ea"/>
                <a:sym typeface="+mn-lt"/>
              </a:rPr>
              <a:t>&amp;</a:t>
            </a:r>
            <a:r>
              <a:rPr lang="en-US" altLang="zh-CN" sz="1000" dirty="0">
                <a:solidFill>
                  <a:schemeClr val="tx1"/>
                </a:solidFill>
                <a:cs typeface="+mn-ea"/>
                <a:sym typeface="+mn-lt"/>
              </a:rPr>
              <a:t>HBR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New FPY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solidFill>
                <a:schemeClr val="tx1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NPI TTQ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800" dirty="0">
              <a:solidFill>
                <a:schemeClr val="tx1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tx1"/>
                </a:solidFill>
                <a:cs typeface="+mn-ea"/>
                <a:sym typeface="+mn-lt"/>
              </a:rPr>
              <a:t>BOM Check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800" dirty="0">
              <a:solidFill>
                <a:schemeClr val="tx1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OBE </a:t>
            </a:r>
            <a:r>
              <a:rPr lang="zh-CN" altLang="en-US" sz="1000" dirty="0">
                <a:cs typeface="+mn-ea"/>
                <a:sym typeface="+mn-lt"/>
              </a:rPr>
              <a:t>绩效管理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tx1"/>
                </a:solidFill>
                <a:cs typeface="+mn-ea"/>
                <a:sym typeface="+mn-lt"/>
              </a:rPr>
              <a:t>Global Network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700" dirty="0">
              <a:solidFill>
                <a:srgbClr val="00B050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42AEA3-6501-C585-283D-9C33B84AC387}"/>
              </a:ext>
            </a:extLst>
          </p:cNvPr>
          <p:cNvSpPr txBox="1"/>
          <p:nvPr/>
        </p:nvSpPr>
        <p:spPr>
          <a:xfrm>
            <a:off x="9763274" y="1243525"/>
            <a:ext cx="2119086" cy="195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cs typeface="+mn-ea"/>
                <a:sym typeface="+mn-lt"/>
              </a:rPr>
              <a:t>321</a:t>
            </a:r>
            <a:r>
              <a:rPr lang="zh-CN" altLang="en-US" sz="1200" b="1" dirty="0">
                <a:cs typeface="+mn-ea"/>
                <a:sym typeface="+mn-lt"/>
              </a:rPr>
              <a:t>项改善方案知识库</a:t>
            </a:r>
            <a:endParaRPr lang="en-US" altLang="zh-CN" sz="1200" b="1" dirty="0"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标准升级</a:t>
            </a:r>
            <a:r>
              <a:rPr lang="en-US" altLang="zh-CN" sz="1000" dirty="0">
                <a:cs typeface="+mn-ea"/>
                <a:sym typeface="+mn-lt"/>
              </a:rPr>
              <a:t>&amp;</a:t>
            </a:r>
            <a:r>
              <a:rPr lang="zh-CN" altLang="en-US" sz="1000" dirty="0">
                <a:cs typeface="+mn-ea"/>
                <a:sym typeface="+mn-lt"/>
              </a:rPr>
              <a:t>体系搭建</a:t>
            </a:r>
            <a:r>
              <a:rPr lang="en-US" altLang="zh-CN" sz="1000" dirty="0">
                <a:cs typeface="+mn-ea"/>
                <a:sym typeface="+mn-lt"/>
              </a:rPr>
              <a:t>*64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人员管理升级</a:t>
            </a:r>
            <a:r>
              <a:rPr lang="en-US" altLang="zh-CN" sz="1000" dirty="0">
                <a:cs typeface="+mn-ea"/>
                <a:sym typeface="+mn-lt"/>
              </a:rPr>
              <a:t>*14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solidFill>
                <a:srgbClr val="00B050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Design guidance*28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solidFill>
                <a:srgbClr val="00B050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Coverage</a:t>
            </a:r>
            <a:r>
              <a:rPr lang="zh-CN" altLang="en-US" sz="1000" dirty="0">
                <a:cs typeface="+mn-ea"/>
                <a:sym typeface="+mn-lt"/>
              </a:rPr>
              <a:t>提升</a:t>
            </a:r>
            <a:r>
              <a:rPr lang="en-US" altLang="zh-CN" sz="1000" dirty="0">
                <a:cs typeface="+mn-ea"/>
                <a:sym typeface="+mn-lt"/>
              </a:rPr>
              <a:t>*50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solidFill>
                <a:srgbClr val="00B050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MES</a:t>
            </a:r>
            <a:r>
              <a:rPr lang="zh-CN" altLang="en-US" sz="1000" dirty="0">
                <a:cs typeface="+mn-ea"/>
                <a:sym typeface="+mn-lt"/>
              </a:rPr>
              <a:t>优化</a:t>
            </a:r>
            <a:r>
              <a:rPr lang="en-US" altLang="zh-CN" sz="1000" dirty="0">
                <a:cs typeface="+mn-ea"/>
                <a:sym typeface="+mn-lt"/>
              </a:rPr>
              <a:t>&amp;</a:t>
            </a:r>
            <a:r>
              <a:rPr lang="zh-CN" altLang="en-US" sz="1000" dirty="0">
                <a:cs typeface="+mn-ea"/>
                <a:sym typeface="+mn-lt"/>
              </a:rPr>
              <a:t>程序优化</a:t>
            </a:r>
            <a:r>
              <a:rPr lang="en-US" altLang="zh-CN" sz="1000" dirty="0">
                <a:cs typeface="+mn-ea"/>
                <a:sym typeface="+mn-lt"/>
              </a:rPr>
              <a:t>*56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solidFill>
                <a:srgbClr val="00B050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设备</a:t>
            </a:r>
            <a:r>
              <a:rPr lang="en-US" altLang="zh-CN" sz="1000" dirty="0">
                <a:cs typeface="+mn-ea"/>
                <a:sym typeface="+mn-lt"/>
              </a:rPr>
              <a:t>/</a:t>
            </a:r>
            <a:r>
              <a:rPr lang="zh-CN" altLang="en-US" sz="1000" dirty="0">
                <a:cs typeface="+mn-ea"/>
                <a:sym typeface="+mn-lt"/>
              </a:rPr>
              <a:t>工治具优化</a:t>
            </a:r>
            <a:r>
              <a:rPr lang="en-US" altLang="zh-CN" sz="1000" dirty="0">
                <a:cs typeface="+mn-ea"/>
                <a:sym typeface="+mn-lt"/>
              </a:rPr>
              <a:t>*77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solidFill>
                <a:srgbClr val="00B050"/>
              </a:solidFill>
              <a:cs typeface="+mn-ea"/>
              <a:sym typeface="+mn-lt"/>
            </a:endParaRPr>
          </a:p>
          <a:p>
            <a:pPr marL="108000" indent="-108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MI&amp;QCP </a:t>
            </a:r>
            <a:r>
              <a:rPr lang="zh-CN" altLang="en-US" sz="1000" dirty="0">
                <a:cs typeface="+mn-ea"/>
                <a:sym typeface="+mn-lt"/>
              </a:rPr>
              <a:t>更新</a:t>
            </a:r>
            <a:r>
              <a:rPr lang="en-US" altLang="zh-CN" sz="1000" dirty="0">
                <a:cs typeface="+mn-ea"/>
                <a:sym typeface="+mn-lt"/>
              </a:rPr>
              <a:t>*32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solidFill>
                <a:srgbClr val="00B050"/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BF4156-9EEB-FBB2-F084-7FE2F6A368B5}"/>
              </a:ext>
            </a:extLst>
          </p:cNvPr>
          <p:cNvSpPr txBox="1"/>
          <p:nvPr/>
        </p:nvSpPr>
        <p:spPr>
          <a:xfrm>
            <a:off x="9672651" y="3727482"/>
            <a:ext cx="1846486" cy="2493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chemeClr val="tx1"/>
                </a:solidFill>
                <a:cs typeface="+mn-ea"/>
                <a:sym typeface="+mn-lt"/>
              </a:rPr>
              <a:t>11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lt"/>
              </a:rPr>
              <a:t>项系统流程开发</a:t>
            </a:r>
            <a:endParaRPr lang="en-US" altLang="zh-CN" sz="1200" b="1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QCP </a:t>
            </a:r>
            <a:r>
              <a:rPr lang="zh-CN" altLang="en-US" sz="1000" dirty="0">
                <a:cs typeface="+mn-ea"/>
                <a:sym typeface="+mn-lt"/>
              </a:rPr>
              <a:t>管理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锡膏回收再利用系统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Quality Alert</a:t>
            </a:r>
            <a:r>
              <a:rPr lang="zh-CN" altLang="en-US" sz="1000" dirty="0">
                <a:cs typeface="+mn-ea"/>
                <a:sym typeface="+mn-lt"/>
              </a:rPr>
              <a:t>管理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ECAT</a:t>
            </a:r>
            <a:r>
              <a:rPr lang="zh-CN" altLang="en-US" sz="1000" dirty="0">
                <a:cs typeface="+mn-ea"/>
                <a:sym typeface="+mn-lt"/>
              </a:rPr>
              <a:t>可靠性测试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升级</a:t>
            </a:r>
            <a:r>
              <a:rPr lang="en-US" altLang="zh-CN" sz="1000" dirty="0">
                <a:cs typeface="+mn-ea"/>
                <a:sym typeface="+mn-lt"/>
              </a:rPr>
              <a:t>Traceability</a:t>
            </a:r>
            <a:r>
              <a:rPr lang="zh-CN" altLang="en-US" sz="1000" dirty="0">
                <a:cs typeface="+mn-ea"/>
                <a:sym typeface="+mn-lt"/>
              </a:rPr>
              <a:t>系统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MFG Issue</a:t>
            </a:r>
            <a:r>
              <a:rPr lang="zh-CN" altLang="en-US" sz="1000" dirty="0">
                <a:cs typeface="+mn-ea"/>
                <a:sym typeface="+mn-lt"/>
              </a:rPr>
              <a:t>管理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PSO</a:t>
            </a:r>
            <a:r>
              <a:rPr lang="zh-CN" altLang="en-US" sz="1000" dirty="0">
                <a:cs typeface="+mn-ea"/>
                <a:sym typeface="+mn-lt"/>
              </a:rPr>
              <a:t>管理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NPI Safe Launch</a:t>
            </a:r>
            <a:r>
              <a:rPr lang="zh-CN" altLang="en-US" sz="1000" dirty="0">
                <a:cs typeface="+mn-ea"/>
                <a:sym typeface="+mn-lt"/>
              </a:rPr>
              <a:t>管理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稽核管理 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cs typeface="+mn-ea"/>
                <a:sym typeface="+mn-lt"/>
              </a:rPr>
              <a:t>Rework</a:t>
            </a:r>
            <a:r>
              <a:rPr lang="zh-CN" altLang="en-US" sz="1000" dirty="0">
                <a:cs typeface="+mn-ea"/>
                <a:sym typeface="+mn-lt"/>
              </a:rPr>
              <a:t>系统管理 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000" dirty="0">
              <a:cs typeface="+mn-ea"/>
              <a:sym typeface="+mn-lt"/>
            </a:endParaRPr>
          </a:p>
          <a:p>
            <a:pPr marL="108000" indent="-108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cs typeface="+mn-ea"/>
                <a:sym typeface="+mn-lt"/>
              </a:rPr>
              <a:t>海外第三方管理  </a:t>
            </a:r>
            <a:r>
              <a:rPr lang="en-US" altLang="zh-CN" sz="800" dirty="0">
                <a:solidFill>
                  <a:srgbClr val="00B050"/>
                </a:solidFill>
                <a:cs typeface="+mn-ea"/>
                <a:sym typeface="+mn-lt"/>
              </a:rPr>
              <a:t>(100%)</a:t>
            </a:r>
            <a:endParaRPr lang="en-US" altLang="zh-CN" sz="1100" dirty="0">
              <a:cs typeface="+mn-ea"/>
              <a:sym typeface="+mn-lt"/>
            </a:endParaRPr>
          </a:p>
        </p:txBody>
      </p:sp>
      <p:sp>
        <p:nvSpPr>
          <p:cNvPr id="2" name="动作按钮: 前进或下一项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37ACE7D-CD11-B709-3D86-4DA7CAD18588}"/>
              </a:ext>
            </a:extLst>
          </p:cNvPr>
          <p:cNvSpPr/>
          <p:nvPr/>
        </p:nvSpPr>
        <p:spPr>
          <a:xfrm>
            <a:off x="5723638" y="1358218"/>
            <a:ext cx="180000" cy="252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5" name="动作按钮: 前进或下一项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383EAA6-C39C-8B9C-8118-6AB3E068A7E4}"/>
              </a:ext>
            </a:extLst>
          </p:cNvPr>
          <p:cNvSpPr/>
          <p:nvPr/>
        </p:nvSpPr>
        <p:spPr>
          <a:xfrm>
            <a:off x="11636640" y="1603369"/>
            <a:ext cx="180000" cy="180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0" name="动作按钮: 前进或下一项 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36B9E67-80F7-EFAF-7145-5B6A8AAE6EE1}"/>
              </a:ext>
            </a:extLst>
          </p:cNvPr>
          <p:cNvSpPr/>
          <p:nvPr/>
        </p:nvSpPr>
        <p:spPr>
          <a:xfrm>
            <a:off x="5742699" y="3870153"/>
            <a:ext cx="180000" cy="252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2" name="动作按钮: 前进或下一项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58C55EB-B48D-25D5-ED28-B0A4752DC641}"/>
              </a:ext>
            </a:extLst>
          </p:cNvPr>
          <p:cNvSpPr/>
          <p:nvPr/>
        </p:nvSpPr>
        <p:spPr>
          <a:xfrm>
            <a:off x="11633515" y="3791650"/>
            <a:ext cx="180000" cy="252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4" name="动作按钮: 前进或下一项 1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E48769D-A76C-3F84-9240-1BB337E6A2E9}"/>
              </a:ext>
            </a:extLst>
          </p:cNvPr>
          <p:cNvSpPr/>
          <p:nvPr/>
        </p:nvSpPr>
        <p:spPr>
          <a:xfrm>
            <a:off x="11636640" y="1834224"/>
            <a:ext cx="180000" cy="180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6" name="动作按钮: 前进或下一项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CACE991-E441-10AD-7DE5-1926088AA19D}"/>
              </a:ext>
            </a:extLst>
          </p:cNvPr>
          <p:cNvSpPr/>
          <p:nvPr/>
        </p:nvSpPr>
        <p:spPr>
          <a:xfrm>
            <a:off x="11636640" y="2067371"/>
            <a:ext cx="180000" cy="180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7" name="动作按钮: 前进或下一项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9453025-9F97-906B-9F89-A856E0D7CCD3}"/>
              </a:ext>
            </a:extLst>
          </p:cNvPr>
          <p:cNvSpPr/>
          <p:nvPr/>
        </p:nvSpPr>
        <p:spPr>
          <a:xfrm>
            <a:off x="11636640" y="2284417"/>
            <a:ext cx="180000" cy="180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8" name="动作按钮: 前进或下一项 1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5EDD15B-A580-D471-D127-F6B8E7FB649A}"/>
              </a:ext>
            </a:extLst>
          </p:cNvPr>
          <p:cNvSpPr/>
          <p:nvPr/>
        </p:nvSpPr>
        <p:spPr>
          <a:xfrm>
            <a:off x="11636640" y="2544305"/>
            <a:ext cx="180000" cy="180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9" name="动作按钮: 前进或下一项 1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6CBD10F-2F0E-D119-58F5-6BE9F36945F7}"/>
              </a:ext>
            </a:extLst>
          </p:cNvPr>
          <p:cNvSpPr/>
          <p:nvPr/>
        </p:nvSpPr>
        <p:spPr>
          <a:xfrm>
            <a:off x="11636640" y="2793697"/>
            <a:ext cx="180000" cy="180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20" name="动作按钮: 前进或下一项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636E989-9CB6-FC20-6950-708ACB34BA1E}"/>
              </a:ext>
            </a:extLst>
          </p:cNvPr>
          <p:cNvSpPr/>
          <p:nvPr/>
        </p:nvSpPr>
        <p:spPr>
          <a:xfrm>
            <a:off x="11636640" y="3013546"/>
            <a:ext cx="180000" cy="180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algn="ctr" defTabSz="914126"/>
            <a:endParaRPr lang="zh-CN" altLang="en-US" sz="1600" b="1" kern="0">
              <a:solidFill>
                <a:schemeClr val="tx2">
                  <a:lumMod val="40000"/>
                  <a:lumOff val="60000"/>
                </a:schemeClr>
              </a:solidFill>
              <a:latin typeface="Arial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B48FE46-AC08-6080-7090-ACF404FBD4A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30739" y="3867523"/>
            <a:ext cx="900000" cy="7560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DCDC916-2C38-CC7C-AC00-D84EB0F47228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066739" y="3867523"/>
            <a:ext cx="900000" cy="756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BCA6FB7-BFBC-A597-0FA3-3F4DBFBB7F97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002739" y="3867523"/>
            <a:ext cx="900000" cy="7560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02DC107D-3623-6BAE-3039-1873ED4501D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130739" y="4653763"/>
            <a:ext cx="900000" cy="7560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B8DA999-A0B8-84DA-3AE2-5789837D5F4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066739" y="4653763"/>
            <a:ext cx="900000" cy="7560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33FFB799-0286-5757-F759-2FE6D0F37AD3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002739" y="4653763"/>
            <a:ext cx="900000" cy="756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B099EAB4-A891-27D8-D8DD-90B7E8D9FECA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130739" y="5440003"/>
            <a:ext cx="900000" cy="75600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3DF793ED-8CB1-6D6E-C741-7832B0B2EB2A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2066739" y="5440003"/>
            <a:ext cx="900000" cy="7560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3FEEED0C-6D00-2BFF-A69F-13F55B82900C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002739" y="5440003"/>
            <a:ext cx="900000" cy="756000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18A2550A-F2C2-B30C-138A-EABCD2FD5349}"/>
              </a:ext>
            </a:extLst>
          </p:cNvPr>
          <p:cNvGrpSpPr/>
          <p:nvPr/>
        </p:nvGrpSpPr>
        <p:grpSpPr>
          <a:xfrm>
            <a:off x="6819285" y="3895488"/>
            <a:ext cx="2874870" cy="2238628"/>
            <a:chOff x="1114300" y="3957226"/>
            <a:chExt cx="3382890" cy="2259755"/>
          </a:xfrm>
        </p:grpSpPr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5CEB38A9-F7F7-A33A-81EC-5C58D9EB4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45359" y="5530496"/>
              <a:ext cx="1047503" cy="68648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510680B8-BDB0-7400-3025-494ECB06F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23835" y="5323282"/>
              <a:ext cx="973355" cy="87886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B7290A1D-3CF8-C9B4-EDBA-413FEB79C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14300" y="5530496"/>
              <a:ext cx="1299532" cy="68648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3B40E9EA-BD11-E164-2D6C-C9EDF83EE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114300" y="4709470"/>
              <a:ext cx="1306272" cy="772697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4E866D5-3E3F-9091-71DD-83EBBE27B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521632" y="4700923"/>
              <a:ext cx="969396" cy="60464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875D2128-CB7A-57FA-0DA5-0F8BD4227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447564" y="3957226"/>
              <a:ext cx="1032883" cy="712832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6E87B643-756F-DE83-9550-901F061B2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449341" y="4704092"/>
              <a:ext cx="1043520" cy="778073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4362F83D-73CC-3BB5-CC5E-C3A635E4F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495065" y="3957227"/>
              <a:ext cx="1002125" cy="712831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91A9845F-7818-6F76-DCD9-D24D86C88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117966" y="3957226"/>
              <a:ext cx="1304341" cy="712832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00730E4-778A-8068-2044-B767BCE52CBC}"/>
              </a:ext>
            </a:extLst>
          </p:cNvPr>
          <p:cNvGrpSpPr/>
          <p:nvPr/>
        </p:nvGrpSpPr>
        <p:grpSpPr>
          <a:xfrm>
            <a:off x="1094829" y="1195400"/>
            <a:ext cx="2807909" cy="2427670"/>
            <a:chOff x="1094830" y="1167442"/>
            <a:chExt cx="2558800" cy="2519999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2B85EF1D-A0B4-66E0-7771-57D3DAB97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105040" y="1167442"/>
              <a:ext cx="2548590" cy="82800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D4FB82DD-F993-DEA2-3C37-01D12792B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105040" y="2025682"/>
              <a:ext cx="2548590" cy="82800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64B5E2F4-27B2-CF2E-0EE8-6F1435722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4830" y="2859441"/>
              <a:ext cx="2548590" cy="82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205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decel="10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E89CE-1CE5-B26E-26AA-F4ADA56B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>
            <a:extLst>
              <a:ext uri="{FF2B5EF4-FFF2-40B4-BE49-F238E27FC236}">
                <a16:creationId xmlns:a16="http://schemas.microsoft.com/office/drawing/2014/main" id="{E1C210DD-F156-8036-8910-DE53ECAD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660" y="194965"/>
            <a:ext cx="8629950" cy="521072"/>
          </a:xfrm>
        </p:spPr>
        <p:txBody>
          <a:bodyPr/>
          <a:lstStyle/>
          <a:p>
            <a:r>
              <a:rPr lang="en-US" altLang="zh-CN" sz="3200" b="1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PCSS_PC MQE NPI 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制程质量标准化管理规范</a:t>
            </a:r>
            <a:endParaRPr lang="zh-CN" altLang="en-US" b="1" dirty="0">
              <a:latin typeface="+mn-lt"/>
              <a:cs typeface="+mn-ea"/>
              <a:sym typeface="+mn-lt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61325DF-3735-7C4D-29BF-208D60ADBD18}"/>
              </a:ext>
            </a:extLst>
          </p:cNvPr>
          <p:cNvCxnSpPr>
            <a:cxnSpLocks/>
          </p:cNvCxnSpPr>
          <p:nvPr/>
        </p:nvCxnSpPr>
        <p:spPr>
          <a:xfrm flipH="1">
            <a:off x="4051630" y="946993"/>
            <a:ext cx="13732" cy="517936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175618F-A4C7-F945-1250-05CE81EF77A1}"/>
              </a:ext>
            </a:extLst>
          </p:cNvPr>
          <p:cNvCxnSpPr>
            <a:cxnSpLocks/>
          </p:cNvCxnSpPr>
          <p:nvPr/>
        </p:nvCxnSpPr>
        <p:spPr>
          <a:xfrm>
            <a:off x="8381063" y="946993"/>
            <a:ext cx="2207" cy="517936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85ADF05-4D74-A9B7-A578-392AE30DABE8}"/>
              </a:ext>
            </a:extLst>
          </p:cNvPr>
          <p:cNvCxnSpPr>
            <a:cxnSpLocks/>
          </p:cNvCxnSpPr>
          <p:nvPr/>
        </p:nvCxnSpPr>
        <p:spPr>
          <a:xfrm>
            <a:off x="601702" y="1285457"/>
            <a:ext cx="3426256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7339E65-5D41-F110-9625-D263D370C455}"/>
              </a:ext>
            </a:extLst>
          </p:cNvPr>
          <p:cNvCxnSpPr>
            <a:cxnSpLocks/>
          </p:cNvCxnSpPr>
          <p:nvPr/>
        </p:nvCxnSpPr>
        <p:spPr>
          <a:xfrm>
            <a:off x="5013074" y="1285457"/>
            <a:ext cx="3275147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15">
            <a:extLst>
              <a:ext uri="{FF2B5EF4-FFF2-40B4-BE49-F238E27FC236}">
                <a16:creationId xmlns:a16="http://schemas.microsoft.com/office/drawing/2014/main" id="{8FB91127-CEE7-AD54-F0F1-0558A01FFCC3}"/>
              </a:ext>
            </a:extLst>
          </p:cNvPr>
          <p:cNvSpPr/>
          <p:nvPr/>
        </p:nvSpPr>
        <p:spPr>
          <a:xfrm>
            <a:off x="601705" y="946991"/>
            <a:ext cx="3426255" cy="3384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标准化方案</a:t>
            </a:r>
          </a:p>
        </p:txBody>
      </p:sp>
      <p:sp>
        <p:nvSpPr>
          <p:cNvPr id="39" name="文本框 17">
            <a:extLst>
              <a:ext uri="{FF2B5EF4-FFF2-40B4-BE49-F238E27FC236}">
                <a16:creationId xmlns:a16="http://schemas.microsoft.com/office/drawing/2014/main" id="{8EC1FD98-CAF4-4619-A163-B0ADD32AF419}"/>
              </a:ext>
            </a:extLst>
          </p:cNvPr>
          <p:cNvSpPr/>
          <p:nvPr/>
        </p:nvSpPr>
        <p:spPr>
          <a:xfrm>
            <a:off x="4102970" y="946991"/>
            <a:ext cx="4208796" cy="33846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关键标准描述</a:t>
            </a:r>
          </a:p>
        </p:txBody>
      </p:sp>
      <p:sp>
        <p:nvSpPr>
          <p:cNvPr id="40" name="文本框 19">
            <a:extLst>
              <a:ext uri="{FF2B5EF4-FFF2-40B4-BE49-F238E27FC236}">
                <a16:creationId xmlns:a16="http://schemas.microsoft.com/office/drawing/2014/main" id="{D221BEA6-9F83-FC83-5137-1D6782E20070}"/>
              </a:ext>
            </a:extLst>
          </p:cNvPr>
          <p:cNvSpPr/>
          <p:nvPr/>
        </p:nvSpPr>
        <p:spPr>
          <a:xfrm>
            <a:off x="8476112" y="946991"/>
            <a:ext cx="3184699" cy="3384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推广实施计划和进度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文本框 20">
            <a:extLst>
              <a:ext uri="{FF2B5EF4-FFF2-40B4-BE49-F238E27FC236}">
                <a16:creationId xmlns:a16="http://schemas.microsoft.com/office/drawing/2014/main" id="{E6CE6B4F-7E9C-6E3E-79E0-7E25DB47591A}"/>
              </a:ext>
            </a:extLst>
          </p:cNvPr>
          <p:cNvSpPr/>
          <p:nvPr/>
        </p:nvSpPr>
        <p:spPr>
          <a:xfrm>
            <a:off x="8476112" y="4111554"/>
            <a:ext cx="3184699" cy="33846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升级体系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405F4E-4906-36EE-7AD6-40F6B4B6AC60}"/>
              </a:ext>
            </a:extLst>
          </p:cNvPr>
          <p:cNvSpPr/>
          <p:nvPr/>
        </p:nvSpPr>
        <p:spPr>
          <a:xfrm>
            <a:off x="4116396" y="1300699"/>
            <a:ext cx="4256879" cy="126893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14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项关键质量活动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PDX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流程拆解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66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个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NPI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关键质量活动输入和交付物梳理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从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Concept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开始到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SS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结束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,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包含每个阶段主要活动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工作内容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输出物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完成时间等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份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check list ,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共计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739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check item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C542BD4-61E9-5236-2A34-F44AFCA658FD}"/>
              </a:ext>
            </a:extLst>
          </p:cNvPr>
          <p:cNvSpPr/>
          <p:nvPr/>
        </p:nvSpPr>
        <p:spPr>
          <a:xfrm>
            <a:off x="8519168" y="4488257"/>
            <a:ext cx="3155724" cy="30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PC MQE NPI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制程质量管理规范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C230965-038D-7866-B7FD-BBC73FE013CD}"/>
              </a:ext>
            </a:extLst>
          </p:cNvPr>
          <p:cNvSpPr/>
          <p:nvPr/>
        </p:nvSpPr>
        <p:spPr>
          <a:xfrm>
            <a:off x="593398" y="1300700"/>
            <a:ext cx="3512952" cy="2267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标准化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NPI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制程质量管理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Process Map</a:t>
            </a: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产品策划质量控制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产品试制质量控制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产品质量标准管理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策划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PC MQE M-QMP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管理文件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NPI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制程管理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Check list</a:t>
            </a: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NPI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制程质量管理关键质量活动输入和交付物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5" name="文本框 31">
            <a:extLst>
              <a:ext uri="{FF2B5EF4-FFF2-40B4-BE49-F238E27FC236}">
                <a16:creationId xmlns:a16="http://schemas.microsoft.com/office/drawing/2014/main" id="{B305BB80-B0B1-A5EF-3581-0E6892D341A1}"/>
              </a:ext>
            </a:extLst>
          </p:cNvPr>
          <p:cNvSpPr/>
          <p:nvPr/>
        </p:nvSpPr>
        <p:spPr>
          <a:xfrm>
            <a:off x="8391058" y="1296814"/>
            <a:ext cx="3184700" cy="1267719"/>
          </a:xfrm>
          <a:prstGeom prst="rect">
            <a:avLst/>
          </a:prstGeom>
          <a:ln w="6350">
            <a:noFill/>
            <a:miter lim="800000"/>
          </a:ln>
        </p:spPr>
        <p:txBody>
          <a:bodyPr wrap="none">
            <a:noAutofit/>
          </a:bodyPr>
          <a:lstStyle/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M-QMP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策划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; 100%</a:t>
            </a: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关键质量活动输入和交付物策划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; 100%</a:t>
            </a: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运行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PC MQE NPI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制程质量管理规范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; 80%</a:t>
            </a:r>
          </a:p>
          <a:p>
            <a:pPr marL="0" marR="0" lvl="0" indent="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473D781-19ED-DFFB-1ACB-A0E0B25D13DF}"/>
              </a:ext>
            </a:extLst>
          </p:cNvPr>
          <p:cNvCxnSpPr/>
          <p:nvPr/>
        </p:nvCxnSpPr>
        <p:spPr>
          <a:xfrm>
            <a:off x="341232" y="6129690"/>
            <a:ext cx="11354110" cy="0"/>
          </a:xfrm>
          <a:prstGeom prst="line">
            <a:avLst/>
          </a:prstGeom>
          <a:ln w="6350" cap="flat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13E6048B-DA7A-9D98-95CD-2C62734DD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46" y="3809067"/>
            <a:ext cx="1749740" cy="8925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44126AC-250A-CC98-379A-9B2863663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859" y="3809066"/>
            <a:ext cx="1630877" cy="8880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C3E35AE-D967-C22B-C29C-735FC2298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46" y="4763553"/>
            <a:ext cx="1749740" cy="9575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45A6DF1-7061-6A9B-DA6B-AC240F77B8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3105" y="4761791"/>
            <a:ext cx="1630877" cy="95208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C4DE880-A434-A22A-30D3-61126B34EE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4914" y="3832912"/>
            <a:ext cx="4006240" cy="126054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56BC491-03A1-ECA7-F343-693A0B1D3A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2178" y="5127439"/>
            <a:ext cx="2401675" cy="964512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1113B43-F17D-53BD-9984-FA8D1E4591D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52561"/>
          <a:stretch/>
        </p:blipFill>
        <p:spPr>
          <a:xfrm>
            <a:off x="6618843" y="5122839"/>
            <a:ext cx="1592311" cy="96450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FFBB977-A9F8-E6AF-E0A6-815E41ABDF37}"/>
              </a:ext>
            </a:extLst>
          </p:cNvPr>
          <p:cNvSpPr/>
          <p:nvPr/>
        </p:nvSpPr>
        <p:spPr>
          <a:xfrm>
            <a:off x="4134659" y="2529378"/>
            <a:ext cx="1747534" cy="1268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Guideline: 11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FUPAN: 18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QLL: 96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TC TI: 157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  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System-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检料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:52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  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62A7C5-A93E-6ED4-8256-E1CE20645E8C}"/>
              </a:ext>
            </a:extLst>
          </p:cNvPr>
          <p:cNvSpPr/>
          <p:nvPr/>
        </p:nvSpPr>
        <p:spPr>
          <a:xfrm>
            <a:off x="5889981" y="2529378"/>
            <a:ext cx="1747534" cy="1028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System-MES: 124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Equipment: 86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Fixture: 89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80000" marR="0" lvl="0" indent="-180000" algn="just" defTabSz="1218621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Readiness:106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项</a:t>
            </a:r>
          </a:p>
        </p:txBody>
      </p:sp>
      <p:sp>
        <p:nvSpPr>
          <p:cNvPr id="5" name="动作按钮: 转到主页 4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B4CE28C3-6340-9DC2-7891-7B76273E76DA}"/>
              </a:ext>
            </a:extLst>
          </p:cNvPr>
          <p:cNvSpPr/>
          <p:nvPr/>
        </p:nvSpPr>
        <p:spPr>
          <a:xfrm>
            <a:off x="11738360" y="164239"/>
            <a:ext cx="288000" cy="28800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590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008CA-81C2-4F55-196E-13DCCF82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M-QMP</a:t>
            </a:r>
            <a:r>
              <a:rPr lang="zh-CN" altLang="en-US" dirty="0">
                <a:latin typeface="+mn-lt"/>
                <a:cs typeface="+mn-ea"/>
                <a:sym typeface="+mn-lt"/>
              </a:rPr>
              <a:t>架构说明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6EF2EF-731A-948E-378F-D621B78A0DA6}"/>
              </a:ext>
            </a:extLst>
          </p:cNvPr>
          <p:cNvSpPr/>
          <p:nvPr/>
        </p:nvSpPr>
        <p:spPr>
          <a:xfrm>
            <a:off x="548783" y="795529"/>
            <a:ext cx="11168296" cy="52120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cs typeface="+mn-ea"/>
                <a:sym typeface="+mn-lt"/>
              </a:rPr>
              <a:t>PC MQE M-QMP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A2924A-0B75-264B-549D-CB46EF715F53}"/>
              </a:ext>
            </a:extLst>
          </p:cNvPr>
          <p:cNvSpPr/>
          <p:nvPr/>
        </p:nvSpPr>
        <p:spPr>
          <a:xfrm>
            <a:off x="548783" y="1310757"/>
            <a:ext cx="6447440" cy="28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lt"/>
              </a:rPr>
              <a:t>标准指导书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3CA6C5-D5B5-30ED-956C-B8E0BC6758BB}"/>
              </a:ext>
            </a:extLst>
          </p:cNvPr>
          <p:cNvSpPr/>
          <p:nvPr/>
        </p:nvSpPr>
        <p:spPr>
          <a:xfrm>
            <a:off x="7095460" y="1310757"/>
            <a:ext cx="4621618" cy="28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lt"/>
              </a:rPr>
              <a:t>质量活动输出和交付物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F2D4E42-E619-00C0-1ABE-5F0521E3CD5C}"/>
              </a:ext>
            </a:extLst>
          </p:cNvPr>
          <p:cNvGrpSpPr/>
          <p:nvPr/>
        </p:nvGrpSpPr>
        <p:grpSpPr>
          <a:xfrm>
            <a:off x="548784" y="1604034"/>
            <a:ext cx="11168294" cy="4821704"/>
            <a:chOff x="548784" y="1604034"/>
            <a:chExt cx="11168294" cy="4697009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8C84FEE-3BF9-8ECA-6189-FC206EED366A}"/>
                </a:ext>
              </a:extLst>
            </p:cNvPr>
            <p:cNvSpPr/>
            <p:nvPr/>
          </p:nvSpPr>
          <p:spPr>
            <a:xfrm>
              <a:off x="7095460" y="1604034"/>
              <a:ext cx="4621618" cy="4697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13326DE-659E-6AFA-12B5-D1C1674B2258}"/>
                </a:ext>
              </a:extLst>
            </p:cNvPr>
            <p:cNvSpPr/>
            <p:nvPr/>
          </p:nvSpPr>
          <p:spPr>
            <a:xfrm>
              <a:off x="548784" y="1628018"/>
              <a:ext cx="6447440" cy="46730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2BE4E7F-FB7B-8241-17A3-3C27A6AC17C2}"/>
                </a:ext>
              </a:extLst>
            </p:cNvPr>
            <p:cNvSpPr/>
            <p:nvPr/>
          </p:nvSpPr>
          <p:spPr>
            <a:xfrm>
              <a:off x="7106092" y="1624770"/>
              <a:ext cx="624342" cy="63262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DDS</a:t>
              </a:r>
              <a:endParaRPr lang="zh-CN" altLang="en-US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C282857-FEB8-D36B-BF8A-0CB924C25F2B}"/>
                </a:ext>
              </a:extLst>
            </p:cNvPr>
            <p:cNvSpPr/>
            <p:nvPr/>
          </p:nvSpPr>
          <p:spPr>
            <a:xfrm>
              <a:off x="7106092" y="2964222"/>
              <a:ext cx="624342" cy="63262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FVT</a:t>
              </a:r>
              <a:endParaRPr lang="zh-CN" altLang="en-US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FD1C438-E3A4-315E-48A0-6BAEAB78F098}"/>
                </a:ext>
              </a:extLst>
            </p:cNvPr>
            <p:cNvSpPr/>
            <p:nvPr/>
          </p:nvSpPr>
          <p:spPr>
            <a:xfrm>
              <a:off x="7106092" y="3625850"/>
              <a:ext cx="624342" cy="63262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SIT</a:t>
              </a:r>
              <a:endParaRPr lang="zh-CN" altLang="en-US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33D0D3E-2112-C5B4-35C6-AC18737694A9}"/>
                </a:ext>
              </a:extLst>
            </p:cNvPr>
            <p:cNvSpPr/>
            <p:nvPr/>
          </p:nvSpPr>
          <p:spPr>
            <a:xfrm>
              <a:off x="7106092" y="4957205"/>
              <a:ext cx="624342" cy="63262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SOVP</a:t>
              </a:r>
              <a:endParaRPr lang="zh-CN" altLang="en-US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12AD4B3-073E-0773-BEA9-E809FC39548B}"/>
                </a:ext>
              </a:extLst>
            </p:cNvPr>
            <p:cNvSpPr/>
            <p:nvPr/>
          </p:nvSpPr>
          <p:spPr>
            <a:xfrm>
              <a:off x="7106092" y="5626331"/>
              <a:ext cx="624342" cy="63262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SS</a:t>
              </a:r>
              <a:endParaRPr lang="zh-CN" altLang="en-US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83355C5-A3AC-6255-A692-8AE5FCE05309}"/>
                </a:ext>
              </a:extLst>
            </p:cNvPr>
            <p:cNvSpPr/>
            <p:nvPr/>
          </p:nvSpPr>
          <p:spPr>
            <a:xfrm>
              <a:off x="7106092" y="2294496"/>
              <a:ext cx="624342" cy="63262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EVT</a:t>
              </a:r>
              <a:endParaRPr lang="zh-CN" altLang="en-US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AA5916B-3185-776A-6705-5BA0DC071BCA}"/>
                </a:ext>
              </a:extLst>
            </p:cNvPr>
            <p:cNvSpPr/>
            <p:nvPr/>
          </p:nvSpPr>
          <p:spPr>
            <a:xfrm>
              <a:off x="7106092" y="4295577"/>
              <a:ext cx="624342" cy="63262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SVT</a:t>
              </a:r>
              <a:endParaRPr lang="zh-CN" altLang="en-US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6DC9E71-13EC-F740-8687-40F0D9D991C2}"/>
                </a:ext>
              </a:extLst>
            </p:cNvPr>
            <p:cNvSpPr/>
            <p:nvPr/>
          </p:nvSpPr>
          <p:spPr>
            <a:xfrm>
              <a:off x="1282996" y="1637650"/>
              <a:ext cx="1438789" cy="263595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Guideline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79AF69C-564F-1C81-1DD4-D1F95A5E1D5F}"/>
                </a:ext>
              </a:extLst>
            </p:cNvPr>
            <p:cNvSpPr/>
            <p:nvPr/>
          </p:nvSpPr>
          <p:spPr>
            <a:xfrm>
              <a:off x="1282995" y="1921524"/>
              <a:ext cx="1438789" cy="263595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Fupan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ECCBB4D-6C4B-CEDF-361D-19DA83D15F22}"/>
                </a:ext>
              </a:extLst>
            </p:cNvPr>
            <p:cNvSpPr/>
            <p:nvPr/>
          </p:nvSpPr>
          <p:spPr>
            <a:xfrm>
              <a:off x="1282996" y="2506669"/>
              <a:ext cx="1438789" cy="508361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TC TI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B52723A-9DAF-EB95-54C2-4B6CD117E4CC}"/>
                </a:ext>
              </a:extLst>
            </p:cNvPr>
            <p:cNvSpPr/>
            <p:nvPr/>
          </p:nvSpPr>
          <p:spPr>
            <a:xfrm>
              <a:off x="1282996" y="2205398"/>
              <a:ext cx="1438789" cy="263595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QLL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D5E382F-A980-4DE9-2F09-7C36A1BACD48}"/>
                </a:ext>
              </a:extLst>
            </p:cNvPr>
            <p:cNvSpPr/>
            <p:nvPr/>
          </p:nvSpPr>
          <p:spPr>
            <a:xfrm>
              <a:off x="1282996" y="3044879"/>
              <a:ext cx="1438789" cy="508361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System-</a:t>
              </a:r>
              <a:r>
                <a:rPr lang="zh-CN" altLang="en-US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检料</a:t>
              </a:r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&amp;MES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806C6F2-3377-B749-82C7-630C63F4137A}"/>
                </a:ext>
              </a:extLst>
            </p:cNvPr>
            <p:cNvSpPr/>
            <p:nvPr/>
          </p:nvSpPr>
          <p:spPr>
            <a:xfrm>
              <a:off x="1282996" y="3583089"/>
              <a:ext cx="1438789" cy="508361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Fixture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F44D0EE-5BD0-1FA3-26B6-8E273344DF56}"/>
                </a:ext>
              </a:extLst>
            </p:cNvPr>
            <p:cNvSpPr/>
            <p:nvPr/>
          </p:nvSpPr>
          <p:spPr>
            <a:xfrm>
              <a:off x="1282996" y="4121299"/>
              <a:ext cx="1438789" cy="508361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Equipment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9678380-BA9D-237E-1665-326FC038A46D}"/>
                </a:ext>
              </a:extLst>
            </p:cNvPr>
            <p:cNvSpPr/>
            <p:nvPr/>
          </p:nvSpPr>
          <p:spPr>
            <a:xfrm>
              <a:off x="1282996" y="4659511"/>
              <a:ext cx="1438789" cy="508361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开线 </a:t>
              </a:r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Readiness 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37E30290-ADCC-92D1-87D2-60DA33E70E6B}"/>
                </a:ext>
              </a:extLst>
            </p:cNvPr>
            <p:cNvSpPr/>
            <p:nvPr/>
          </p:nvSpPr>
          <p:spPr>
            <a:xfrm>
              <a:off x="2791231" y="1639141"/>
              <a:ext cx="4204991" cy="829851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结合上一代产品问题或制程问题提出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QLL/</a:t>
              </a:r>
              <a:r>
                <a:rPr lang="en-US" altLang="zh-CN" sz="800" dirty="0" err="1">
                  <a:solidFill>
                    <a:schemeClr val="tx1"/>
                  </a:solidFill>
                  <a:cs typeface="+mn-ea"/>
                  <a:sym typeface="+mn-lt"/>
                </a:rPr>
                <a:t>Fupan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/Guideline 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确定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NPI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需要产品或制程优化的方向，以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NUDD&amp;DFM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的形式推动产品改善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.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8DA2A57-4E94-85BD-1350-AB494CBE894D}"/>
                </a:ext>
              </a:extLst>
            </p:cNvPr>
            <p:cNvSpPr/>
            <p:nvPr/>
          </p:nvSpPr>
          <p:spPr>
            <a:xfrm>
              <a:off x="2791232" y="2509795"/>
              <a:ext cx="4204990" cy="508361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PE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在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FVT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前固化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test matrix,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并邮件输出给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NPI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项目团队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.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MQE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根据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TC/TI check list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和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spec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对 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test matrix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进行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check,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保证其合理性和完整性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.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AC8418C-EDF2-27DC-FA7F-CBDEB5FDEC1F}"/>
                </a:ext>
              </a:extLst>
            </p:cNvPr>
            <p:cNvSpPr/>
            <p:nvPr/>
          </p:nvSpPr>
          <p:spPr>
            <a:xfrm>
              <a:off x="2791232" y="3048028"/>
              <a:ext cx="4204990" cy="508361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根据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kitting list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和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MES station list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进行产品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MES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和检料逻辑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check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根据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check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结果在正式投线时进行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online check 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确定实际导入情况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endParaRPr lang="zh-CN" altLang="en-US" sz="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E46F38C-5C68-68CE-B199-D77813B82FB8}"/>
                </a:ext>
              </a:extLst>
            </p:cNvPr>
            <p:cNvSpPr/>
            <p:nvPr/>
          </p:nvSpPr>
          <p:spPr>
            <a:xfrm>
              <a:off x="2791232" y="3586260"/>
              <a:ext cx="4204990" cy="508361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根据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Fixture list 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对产品开发治具需求进行确认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是否满足质量要求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.</a:t>
              </a:r>
              <a:endParaRPr lang="zh-CN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正常投线时对工治具实际使用情况进行确认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.</a:t>
              </a:r>
              <a:endParaRPr lang="zh-CN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DB4CE1D-40D8-9311-D268-0424E60F6019}"/>
                </a:ext>
              </a:extLst>
            </p:cNvPr>
            <p:cNvSpPr/>
            <p:nvPr/>
          </p:nvSpPr>
          <p:spPr>
            <a:xfrm>
              <a:off x="2791232" y="4662723"/>
              <a:ext cx="4204990" cy="508361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各阶段试产会时根据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 check list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对投产前人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/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机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/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料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/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法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/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环进行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check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确认</a:t>
              </a: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在发现相关准备工作不符合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check list 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要求时及时喊停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, 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再由项目组进行评估或升级决策确定下一步方案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B1E3F3E-FFF4-88EC-55D0-693050A3D731}"/>
                </a:ext>
              </a:extLst>
            </p:cNvPr>
            <p:cNvSpPr/>
            <p:nvPr/>
          </p:nvSpPr>
          <p:spPr>
            <a:xfrm>
              <a:off x="1282996" y="5239023"/>
              <a:ext cx="1438789" cy="5083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DFM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2FF666D-84A7-0177-2DFF-12B1DFA9563A}"/>
                </a:ext>
              </a:extLst>
            </p:cNvPr>
            <p:cNvSpPr/>
            <p:nvPr/>
          </p:nvSpPr>
          <p:spPr>
            <a:xfrm>
              <a:off x="1282994" y="5783763"/>
              <a:ext cx="1438789" cy="5083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16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NUDD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3CBC7EA-74C7-5C95-CAC2-312CC18E8A6D}"/>
                </a:ext>
              </a:extLst>
            </p:cNvPr>
            <p:cNvSpPr/>
            <p:nvPr/>
          </p:nvSpPr>
          <p:spPr>
            <a:xfrm>
              <a:off x="2791232" y="5248410"/>
              <a:ext cx="4204990" cy="508361"/>
            </a:xfrm>
            <a:prstGeom prst="rect">
              <a:avLst/>
            </a:prstGeom>
            <a:solidFill>
              <a:schemeClr val="bg2">
                <a:lumMod val="40000"/>
                <a:lumOff val="6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PE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根据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DFM list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识别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DFM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问题点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并正式邮件输出出来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.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MQE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根据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DFM issue list,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识别其中制程质量相关的问题点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C8A78997-CCAE-57DE-ECF5-8B78EBDA43B9}"/>
                </a:ext>
              </a:extLst>
            </p:cNvPr>
            <p:cNvSpPr/>
            <p:nvPr/>
          </p:nvSpPr>
          <p:spPr>
            <a:xfrm>
              <a:off x="2791232" y="5781365"/>
              <a:ext cx="4204990" cy="508361"/>
            </a:xfrm>
            <a:prstGeom prst="rect">
              <a:avLst/>
            </a:prstGeom>
            <a:solidFill>
              <a:schemeClr val="bg2">
                <a:lumMod val="40000"/>
                <a:lumOff val="6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Concept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开始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从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NUDD 0.1/NUDD 1.0/NUDD 2.0/NUDD 3.0 l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中识别制程质量问题点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. </a:t>
              </a:r>
              <a:endParaRPr lang="zh-CN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SVT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开始前需结案之前所有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NUDD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问题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SVT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之前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NUDD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问题作为单独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issue</a:t>
              </a:r>
              <a:r>
                <a:rPr lang="zh-CN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追踪改善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.</a:t>
              </a:r>
              <a:endParaRPr lang="zh-CN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84F66BD-6588-DDF1-C0F5-21BC34BD8831}"/>
                </a:ext>
              </a:extLst>
            </p:cNvPr>
            <p:cNvSpPr/>
            <p:nvPr/>
          </p:nvSpPr>
          <p:spPr>
            <a:xfrm>
              <a:off x="551602" y="1623670"/>
              <a:ext cx="684000" cy="3554520"/>
            </a:xfrm>
            <a:prstGeom prst="rect">
              <a:avLst/>
            </a:prstGeom>
            <a:solidFill>
              <a:srgbClr val="A6D9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PC MQE 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3777ECA-BC0D-D09F-765E-E2A1BD3F7D09}"/>
                </a:ext>
              </a:extLst>
            </p:cNvPr>
            <p:cNvSpPr/>
            <p:nvPr/>
          </p:nvSpPr>
          <p:spPr>
            <a:xfrm>
              <a:off x="554819" y="5230486"/>
              <a:ext cx="684000" cy="105437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cs typeface="+mn-ea"/>
                  <a:sym typeface="+mn-lt"/>
                </a:rPr>
                <a:t>PE&amp;RD</a:t>
              </a:r>
              <a:endParaRPr lang="zh-CN" altLang="en-US" sz="9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D77B1C9-BB0F-FABB-EB66-86C9161391CC}"/>
                </a:ext>
              </a:extLst>
            </p:cNvPr>
            <p:cNvSpPr/>
            <p:nvPr/>
          </p:nvSpPr>
          <p:spPr>
            <a:xfrm>
              <a:off x="2791232" y="4124492"/>
              <a:ext cx="4204990" cy="508361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根据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Equipment check list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对设备导入情况进行核对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, 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并在实际投线时进行确认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.</a:t>
              </a:r>
              <a:endParaRPr lang="zh-CN" altLang="zh-CN" sz="800" kern="100" dirty="0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设备的使用需要在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SIT</a:t>
              </a:r>
              <a:r>
                <a:rPr lang="zh-CN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结案前形成固化方案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.</a:t>
              </a: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NPI</a:t>
              </a:r>
              <a:r>
                <a:rPr lang="zh-CN" altLang="en-US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和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MP</a:t>
              </a:r>
              <a:r>
                <a:rPr lang="zh-CN" altLang="en-US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设备使用情况需要保持一致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, </a:t>
              </a:r>
              <a:r>
                <a:rPr lang="zh-CN" altLang="en-US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针对</a:t>
              </a:r>
              <a:r>
                <a:rPr lang="en-US" altLang="zh-CN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MP</a:t>
              </a:r>
              <a:r>
                <a:rPr lang="zh-CN" altLang="en-US" sz="800" kern="10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新增设备需要以变更形式导入</a:t>
              </a:r>
              <a:endParaRPr lang="zh-CN" altLang="zh-CN" sz="800" kern="100" dirty="0">
                <a:solidFill>
                  <a:schemeClr val="tx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63F7119-D050-A743-860A-225B85DAAC74}"/>
                </a:ext>
              </a:extLst>
            </p:cNvPr>
            <p:cNvSpPr/>
            <p:nvPr/>
          </p:nvSpPr>
          <p:spPr>
            <a:xfrm>
              <a:off x="7763686" y="1623671"/>
              <a:ext cx="3951073" cy="6418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治具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设备开发需求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NUDD&amp;DFM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问题识别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F1B78C7-A55C-9697-EAA5-7B8389663445}"/>
                </a:ext>
              </a:extLst>
            </p:cNvPr>
            <p:cNvSpPr/>
            <p:nvPr/>
          </p:nvSpPr>
          <p:spPr>
            <a:xfrm>
              <a:off x="7763686" y="2288746"/>
              <a:ext cx="3951073" cy="6418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确认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Fixture &amp; Equipment  develop check list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更新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NUDD 1.0 list &amp; DFM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质量问题点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追踪未结案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issue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6142015-1DB8-0ECE-8AB3-1CD3C52BC350}"/>
                </a:ext>
              </a:extLst>
            </p:cNvPr>
            <p:cNvSpPr/>
            <p:nvPr/>
          </p:nvSpPr>
          <p:spPr>
            <a:xfrm>
              <a:off x="7763686" y="2953822"/>
              <a:ext cx="3951073" cy="6418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更新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NUDD 2.0 list &amp; DFM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质量问题点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追踪未结案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issue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TC/TI check list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和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spec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确认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执行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Pre-Build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kitting list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和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MES station list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确认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对产品开发治具和设备需求确认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是否满足质量要求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DFE1056-0849-81F9-D4BB-598741BBEFB6}"/>
                </a:ext>
              </a:extLst>
            </p:cNvPr>
            <p:cNvSpPr/>
            <p:nvPr/>
          </p:nvSpPr>
          <p:spPr>
            <a:xfrm>
              <a:off x="7763686" y="3618897"/>
              <a:ext cx="3951073" cy="6418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更新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NUDD 3.0 list &amp; DFM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质量问题点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追踪未结案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issue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Pre-Build &amp;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产前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Readiness&amp; Online check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发起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QCP &amp; SIP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制定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Safe launch Issue management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治具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设备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&amp;TC TI &amp; IT System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 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check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C3545F2-79B4-847F-EA50-B5C8C14335E5}"/>
                </a:ext>
              </a:extLst>
            </p:cNvPr>
            <p:cNvSpPr/>
            <p:nvPr/>
          </p:nvSpPr>
          <p:spPr>
            <a:xfrm>
              <a:off x="7763686" y="4283973"/>
              <a:ext cx="3951073" cy="6418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升级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QCP 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完成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QCP 0.5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Pre-Build &amp; Readiness&amp; Online check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治具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设备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&amp;TC TI &amp; IT System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 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check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生产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SOP Review&amp;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现场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check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7FAFCA7-709F-099C-35DC-7DAF2B60E415}"/>
                </a:ext>
              </a:extLst>
            </p:cNvPr>
            <p:cNvSpPr/>
            <p:nvPr/>
          </p:nvSpPr>
          <p:spPr>
            <a:xfrm>
              <a:off x="7763686" y="4949048"/>
              <a:ext cx="3951073" cy="6418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QCP 1.0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 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 2.0/SIP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升级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,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正式版发行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治具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设备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&amp;TC TI &amp; IT System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终版确认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结合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QCP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 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Review SOP, Readiness&amp; Online check</a:t>
              </a: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SOVP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质量管控策划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6F66951-BD76-855E-A912-58ABBB5FE5D2}"/>
                </a:ext>
              </a:extLst>
            </p:cNvPr>
            <p:cNvSpPr/>
            <p:nvPr/>
          </p:nvSpPr>
          <p:spPr>
            <a:xfrm>
              <a:off x="7763686" y="5614126"/>
              <a:ext cx="3951073" cy="6418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WFB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 制程质量策划和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SS+3-4weeks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收集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ramp up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状况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分析影响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KPI TOP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问题和改善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过程管理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 &amp; Issue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管理 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变更管理 </a:t>
              </a:r>
              <a:r>
                <a:rPr lang="en-US" altLang="zh-CN" sz="800" dirty="0">
                  <a:solidFill>
                    <a:schemeClr val="tx1"/>
                  </a:solidFill>
                  <a:cs typeface="+mn-ea"/>
                  <a:sym typeface="+mn-lt"/>
                </a:rPr>
                <a:t>&amp; </a:t>
              </a:r>
              <a:r>
                <a:rPr lang="zh-CN" altLang="en-US" sz="800" dirty="0">
                  <a:solidFill>
                    <a:schemeClr val="tx1"/>
                  </a:solidFill>
                  <a:cs typeface="+mn-ea"/>
                  <a:sym typeface="+mn-lt"/>
                </a:rPr>
                <a:t>制程改善标准化落实</a:t>
              </a:r>
              <a:endParaRPr lang="en-US" altLang="zh-CN" sz="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动作按钮: 转到主页 3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37A0F1A-62C5-0104-47DF-70B646004063}"/>
              </a:ext>
            </a:extLst>
          </p:cNvPr>
          <p:cNvSpPr/>
          <p:nvPr/>
        </p:nvSpPr>
        <p:spPr>
          <a:xfrm>
            <a:off x="11738360" y="164239"/>
            <a:ext cx="288000" cy="28800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161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58B49-D8B7-CED1-6C3C-FF88EE9F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>
            <a:extLst>
              <a:ext uri="{FF2B5EF4-FFF2-40B4-BE49-F238E27FC236}">
                <a16:creationId xmlns:a16="http://schemas.microsoft.com/office/drawing/2014/main" id="{697E5B1F-02E1-2BD9-96B4-6721C372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660" y="194965"/>
            <a:ext cx="8629950" cy="521072"/>
          </a:xfrm>
        </p:spPr>
        <p:txBody>
          <a:bodyPr/>
          <a:lstStyle/>
          <a:p>
            <a:r>
              <a:rPr lang="en-US" altLang="zh-CN" sz="3200" b="1" dirty="0">
                <a:latin typeface="+mn-lt"/>
                <a:cs typeface="+mn-ea"/>
                <a:sym typeface="+mn-lt"/>
              </a:rPr>
              <a:t>M-QMP-Guideline</a:t>
            </a:r>
            <a:endParaRPr lang="zh-CN" altLang="en-US" sz="3200" b="1" dirty="0">
              <a:latin typeface="+mn-lt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CB3DD3-A342-5230-D6D6-7A95908BB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12" y="708417"/>
            <a:ext cx="11260288" cy="5718544"/>
          </a:xfrm>
          <a:prstGeom prst="rect">
            <a:avLst/>
          </a:prstGeom>
        </p:spPr>
      </p:pic>
      <p:sp>
        <p:nvSpPr>
          <p:cNvPr id="4" name="动作按钮: 转到主页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8C660FD-20CA-77BA-48FA-B006BC328F40}"/>
              </a:ext>
            </a:extLst>
          </p:cNvPr>
          <p:cNvSpPr/>
          <p:nvPr/>
        </p:nvSpPr>
        <p:spPr>
          <a:xfrm>
            <a:off x="11738360" y="164239"/>
            <a:ext cx="288000" cy="28800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23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D302D-D5E2-776C-0FDA-1A62EA7F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167994"/>
            <a:ext cx="11076268" cy="521208"/>
          </a:xfrm>
        </p:spPr>
        <p:txBody>
          <a:bodyPr/>
          <a:lstStyle/>
          <a:p>
            <a:r>
              <a:rPr lang="en-US" altLang="zh-CN" sz="3200" b="1" dirty="0">
                <a:latin typeface="+mn-lt"/>
                <a:cs typeface="+mn-ea"/>
                <a:sym typeface="+mn-lt"/>
              </a:rPr>
              <a:t>NPI</a:t>
            </a:r>
            <a:r>
              <a:rPr lang="zh-CN" altLang="en-US" sz="3200" b="1" dirty="0">
                <a:latin typeface="+mn-lt"/>
                <a:cs typeface="+mn-ea"/>
                <a:sym typeface="+mn-lt"/>
              </a:rPr>
              <a:t>制程关键质量活动</a:t>
            </a:r>
            <a:r>
              <a:rPr lang="en-US" altLang="zh-CN" sz="3200" b="1" dirty="0">
                <a:latin typeface="+mn-lt"/>
                <a:cs typeface="+mn-ea"/>
                <a:sym typeface="+mn-lt"/>
              </a:rPr>
              <a:t>-SOVP&amp;SS</a:t>
            </a:r>
            <a:endParaRPr lang="zh-CN" altLang="en-US" sz="3200" dirty="0">
              <a:latin typeface="+mn-lt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1867C5-5EB7-A7DD-D3EA-D669F72E5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76" y="689202"/>
            <a:ext cx="11272481" cy="5730737"/>
          </a:xfrm>
          <a:prstGeom prst="rect">
            <a:avLst/>
          </a:prstGeom>
        </p:spPr>
      </p:pic>
      <p:sp>
        <p:nvSpPr>
          <p:cNvPr id="4" name="动作按钮: 转到主页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877B448-BCA0-4E9D-FEAC-413EAC6F8D70}"/>
              </a:ext>
            </a:extLst>
          </p:cNvPr>
          <p:cNvSpPr/>
          <p:nvPr/>
        </p:nvSpPr>
        <p:spPr>
          <a:xfrm>
            <a:off x="11738360" y="164239"/>
            <a:ext cx="288000" cy="28800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286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KSO_WPP_MARK_KEY" val="5a4c6e48-356d-46b5-b353-dd6d395ebbe7"/>
  <p:tag name="COMMONDATA" val="eyJoZGlkIjoiZjdhMjc3Nzc5ZDAzOGRiNzk3YzIwNzZhMDk0NjczZj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da98ded2-07cb-4d80-8d5b-d23a144f5ba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4AC0E0">
                <a:lumMod val="75000"/>
                <a:tint val="66000"/>
                <a:satMod val="160000"/>
              </a:srgbClr>
            </a:gs>
            <a:gs pos="50000">
              <a:srgbClr val="4AC0E0">
                <a:lumMod val="75000"/>
                <a:tint val="44500"/>
                <a:satMod val="160000"/>
              </a:srgbClr>
            </a:gs>
            <a:gs pos="100000">
              <a:srgbClr val="4AC0E0">
                <a:lumMod val="75000"/>
                <a:tint val="23500"/>
                <a:satMod val="160000"/>
              </a:srgbClr>
            </a:gs>
          </a:gsLst>
          <a:lin ang="0" scaled="1"/>
          <a:tileRect/>
        </a:gradFill>
        <a:ln w="25400" cap="flat" cmpd="sng" algn="ctr">
          <a:noFill/>
          <a:prstDash val="solid"/>
        </a:ln>
        <a:effectLst/>
      </a:spPr>
      <a:bodyPr rtlCol="0" anchor="ctr"/>
      <a:lstStyle>
        <a:defPPr marL="0" algn="ctr" defTabSz="914126">
          <a:defRPr sz="1600" b="1" kern="0">
            <a:solidFill>
              <a:schemeClr val="tx2">
                <a:lumMod val="40000"/>
                <a:lumOff val="60000"/>
              </a:schemeClr>
            </a:solidFill>
            <a:latin typeface="Arial"/>
            <a:ea typeface="微软雅黑" panose="020B0503020204020204" pitchFamily="34" charset="-122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42706</TotalTime>
  <Words>1947</Words>
  <Application>Microsoft Office PowerPoint</Application>
  <PresentationFormat>宽屏</PresentationFormat>
  <Paragraphs>366</Paragraphs>
  <Slides>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020B0604020202020204</vt:lpstr>
      <vt:lpstr>Arial</vt:lpstr>
      <vt:lpstr>Calibri</vt:lpstr>
      <vt:lpstr>Wingdings</vt:lpstr>
      <vt:lpstr>1_LenovoTemplate-16x9</vt:lpstr>
      <vt:lpstr>think-cell 幻灯片</vt:lpstr>
      <vt:lpstr>think-cell Slide</vt:lpstr>
      <vt:lpstr>PC MQE Handbook框架说明</vt:lpstr>
      <vt:lpstr>MQMS 2.0 </vt:lpstr>
      <vt:lpstr>Mainline#3: MQMS 2.0 Key Activity Execution </vt:lpstr>
      <vt:lpstr>PCSS_PC MQE NPI 制程质量标准化管理规范</vt:lpstr>
      <vt:lpstr>M-QMP架构说明</vt:lpstr>
      <vt:lpstr>M-QMP-Guideline</vt:lpstr>
      <vt:lpstr>NPI制程关键质量活动-SOVP&amp;SS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 Two Lines Maximum</dc:title>
  <dc:creator>Thomas Xue</dc:creator>
  <cp:lastModifiedBy>Zhang, Bing</cp:lastModifiedBy>
  <cp:revision>8337</cp:revision>
  <dcterms:created xsi:type="dcterms:W3CDTF">2016-07-05T07:43:00Z</dcterms:created>
  <dcterms:modified xsi:type="dcterms:W3CDTF">2025-06-03T01:51:02Z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01D4ECBC0F6140C0B74D3E4346C8DFC8_12</vt:lpwstr>
  </property>
  <property fmtid="{D5CDD505-2E9C-101B-9397-08002B2CF9AE}" pid="3" name="KSOProductBuildVer">
    <vt:lpwstr>2052-11.1.0.14309</vt:lpwstr>
  </property>
</Properties>
</file>